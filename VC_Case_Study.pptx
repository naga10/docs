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65" r:id="rId2"/>
    <p:sldId id="263" r:id="rId3"/>
    <p:sldId id="257" r:id="rId4"/>
    <p:sldId id="258" r:id="rId5"/>
    <p:sldId id="259" r:id="rId6"/>
    <p:sldId id="260" r:id="rId7"/>
    <p:sldId id="261"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FEDFF-4C36-4250-829D-CA785FCCD005}" type="datetimeFigureOut">
              <a:rPr lang="en-US" smtClean="0"/>
              <a:t>9/27/2024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75440-C963-4269-8AD0-FBF66022A252}" type="slidenum">
              <a:rPr lang="en-US" smtClean="0"/>
              <a:t>‹#›</a:t>
            </a:fld>
            <a:endParaRPr lang="en-US"/>
          </a:p>
        </p:txBody>
      </p:sp>
    </p:spTree>
    <p:extLst>
      <p:ext uri="{BB962C8B-B14F-4D97-AF65-F5344CB8AC3E}">
        <p14:creationId xmlns:p14="http://schemas.microsoft.com/office/powerpoint/2010/main" val="3036194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F0E6A8-488F-4D9A-B9D6-E9AF4F9377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150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F0E6A8-488F-4D9A-B9D6-E9AF4F9377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777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F0E6A8-488F-4D9A-B9D6-E9AF4F9377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897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F0E6A8-488F-4D9A-B9D6-E9AF4F9377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38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A picture containing text&#10;&#10;Description automatically generated">
            <a:extLst>
              <a:ext uri="{FF2B5EF4-FFF2-40B4-BE49-F238E27FC236}">
                <a16:creationId xmlns:a16="http://schemas.microsoft.com/office/drawing/2014/main" id="{AE33F999-4FCF-7255-56C5-54D46F0371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 name="object 2">
            <a:extLst>
              <a:ext uri="{FF2B5EF4-FFF2-40B4-BE49-F238E27FC236}">
                <a16:creationId xmlns:a16="http://schemas.microsoft.com/office/drawing/2014/main" id="{F92E8914-3CDE-9CC4-3DEE-FA9ABE5C75B0}"/>
              </a:ext>
            </a:extLst>
          </p:cNvPr>
          <p:cNvGrpSpPr/>
          <p:nvPr userDrawn="1"/>
        </p:nvGrpSpPr>
        <p:grpSpPr>
          <a:xfrm>
            <a:off x="405125" y="323566"/>
            <a:ext cx="11451089" cy="6208438"/>
            <a:chOff x="668034" y="533547"/>
            <a:chExt cx="18882371" cy="10237456"/>
          </a:xfrm>
        </p:grpSpPr>
        <p:sp>
          <p:nvSpPr>
            <p:cNvPr id="5" name="object 4">
              <a:extLst>
                <a:ext uri="{FF2B5EF4-FFF2-40B4-BE49-F238E27FC236}">
                  <a16:creationId xmlns:a16="http://schemas.microsoft.com/office/drawing/2014/main" id="{73E39FB6-35C9-459C-F222-A36FCB6B1E3E}"/>
                </a:ext>
              </a:extLst>
            </p:cNvPr>
            <p:cNvSpPr/>
            <p:nvPr/>
          </p:nvSpPr>
          <p:spPr>
            <a:xfrm>
              <a:off x="17252340" y="10442708"/>
              <a:ext cx="2298065" cy="328295"/>
            </a:xfrm>
            <a:custGeom>
              <a:avLst/>
              <a:gdLst/>
              <a:ahLst/>
              <a:cxnLst/>
              <a:rect l="l" t="t" r="r" b="b"/>
              <a:pathLst>
                <a:path w="2298065" h="328295">
                  <a:moveTo>
                    <a:pt x="883056" y="10807"/>
                  </a:moveTo>
                  <a:lnTo>
                    <a:pt x="628980" y="10807"/>
                  </a:lnTo>
                  <a:lnTo>
                    <a:pt x="583311" y="114350"/>
                  </a:lnTo>
                  <a:lnTo>
                    <a:pt x="339217" y="114350"/>
                  </a:lnTo>
                  <a:lnTo>
                    <a:pt x="385343" y="10807"/>
                  </a:lnTo>
                  <a:lnTo>
                    <a:pt x="138633" y="10756"/>
                  </a:lnTo>
                  <a:lnTo>
                    <a:pt x="0" y="317677"/>
                  </a:lnTo>
                  <a:lnTo>
                    <a:pt x="249339" y="317677"/>
                  </a:lnTo>
                  <a:lnTo>
                    <a:pt x="302818" y="195211"/>
                  </a:lnTo>
                  <a:lnTo>
                    <a:pt x="547243" y="195211"/>
                  </a:lnTo>
                  <a:lnTo>
                    <a:pt x="492391" y="317576"/>
                  </a:lnTo>
                  <a:lnTo>
                    <a:pt x="744562" y="317576"/>
                  </a:lnTo>
                  <a:lnTo>
                    <a:pt x="883056" y="10807"/>
                  </a:lnTo>
                  <a:close/>
                </a:path>
                <a:path w="2298065" h="328295">
                  <a:moveTo>
                    <a:pt x="1671866" y="115125"/>
                  </a:moveTo>
                  <a:lnTo>
                    <a:pt x="1633270" y="50406"/>
                  </a:lnTo>
                  <a:lnTo>
                    <a:pt x="1586636" y="28282"/>
                  </a:lnTo>
                  <a:lnTo>
                    <a:pt x="1521739" y="13703"/>
                  </a:lnTo>
                  <a:lnTo>
                    <a:pt x="1468285" y="6934"/>
                  </a:lnTo>
                  <a:lnTo>
                    <a:pt x="1414399" y="2324"/>
                  </a:lnTo>
                  <a:lnTo>
                    <a:pt x="1360398" y="0"/>
                  </a:lnTo>
                  <a:lnTo>
                    <a:pt x="1306639" y="114"/>
                  </a:lnTo>
                  <a:lnTo>
                    <a:pt x="1253477" y="2781"/>
                  </a:lnTo>
                  <a:lnTo>
                    <a:pt x="1201242" y="8153"/>
                  </a:lnTo>
                  <a:lnTo>
                    <a:pt x="1150289" y="16344"/>
                  </a:lnTo>
                  <a:lnTo>
                    <a:pt x="1100975" y="27508"/>
                  </a:lnTo>
                  <a:lnTo>
                    <a:pt x="1053617" y="41770"/>
                  </a:lnTo>
                  <a:lnTo>
                    <a:pt x="1008583" y="59258"/>
                  </a:lnTo>
                  <a:lnTo>
                    <a:pt x="966228" y="80111"/>
                  </a:lnTo>
                  <a:lnTo>
                    <a:pt x="922312" y="110045"/>
                  </a:lnTo>
                  <a:lnTo>
                    <a:pt x="892086" y="142557"/>
                  </a:lnTo>
                  <a:lnTo>
                    <a:pt x="873887" y="209537"/>
                  </a:lnTo>
                  <a:lnTo>
                    <a:pt x="886548" y="241071"/>
                  </a:lnTo>
                  <a:lnTo>
                    <a:pt x="914120" y="269341"/>
                  </a:lnTo>
                  <a:lnTo>
                    <a:pt x="956906" y="292912"/>
                  </a:lnTo>
                  <a:lnTo>
                    <a:pt x="993736" y="305079"/>
                  </a:lnTo>
                  <a:lnTo>
                    <a:pt x="1037272" y="314604"/>
                  </a:lnTo>
                  <a:lnTo>
                    <a:pt x="1086129" y="321551"/>
                  </a:lnTo>
                  <a:lnTo>
                    <a:pt x="1138910" y="325970"/>
                  </a:lnTo>
                  <a:lnTo>
                    <a:pt x="1194219" y="327926"/>
                  </a:lnTo>
                  <a:lnTo>
                    <a:pt x="1250696" y="327469"/>
                  </a:lnTo>
                  <a:lnTo>
                    <a:pt x="1306944" y="324675"/>
                  </a:lnTo>
                  <a:lnTo>
                    <a:pt x="1361567" y="319582"/>
                  </a:lnTo>
                  <a:lnTo>
                    <a:pt x="1413192" y="312254"/>
                  </a:lnTo>
                  <a:lnTo>
                    <a:pt x="1468259" y="300545"/>
                  </a:lnTo>
                  <a:lnTo>
                    <a:pt x="1517421" y="285165"/>
                  </a:lnTo>
                  <a:lnTo>
                    <a:pt x="1560207" y="266077"/>
                  </a:lnTo>
                  <a:lnTo>
                    <a:pt x="1596148" y="243268"/>
                  </a:lnTo>
                  <a:lnTo>
                    <a:pt x="1624799" y="216725"/>
                  </a:lnTo>
                  <a:lnTo>
                    <a:pt x="1383779" y="216725"/>
                  </a:lnTo>
                  <a:lnTo>
                    <a:pt x="1358607" y="232448"/>
                  </a:lnTo>
                  <a:lnTo>
                    <a:pt x="1330134" y="243738"/>
                  </a:lnTo>
                  <a:lnTo>
                    <a:pt x="1298587" y="250596"/>
                  </a:lnTo>
                  <a:lnTo>
                    <a:pt x="1264221" y="253072"/>
                  </a:lnTo>
                  <a:lnTo>
                    <a:pt x="1196530" y="248881"/>
                  </a:lnTo>
                  <a:lnTo>
                    <a:pt x="1153375" y="236359"/>
                  </a:lnTo>
                  <a:lnTo>
                    <a:pt x="1131125" y="217220"/>
                  </a:lnTo>
                  <a:lnTo>
                    <a:pt x="1126121" y="193179"/>
                  </a:lnTo>
                  <a:lnTo>
                    <a:pt x="1134732" y="165950"/>
                  </a:lnTo>
                  <a:lnTo>
                    <a:pt x="1161503" y="129044"/>
                  </a:lnTo>
                  <a:lnTo>
                    <a:pt x="1199845" y="101866"/>
                  </a:lnTo>
                  <a:lnTo>
                    <a:pt x="1249781" y="84658"/>
                  </a:lnTo>
                  <a:lnTo>
                    <a:pt x="1311325" y="77622"/>
                  </a:lnTo>
                  <a:lnTo>
                    <a:pt x="1357922" y="79375"/>
                  </a:lnTo>
                  <a:lnTo>
                    <a:pt x="1392986" y="86791"/>
                  </a:lnTo>
                  <a:lnTo>
                    <a:pt x="1418399" y="98996"/>
                  </a:lnTo>
                  <a:lnTo>
                    <a:pt x="1436027" y="115125"/>
                  </a:lnTo>
                  <a:lnTo>
                    <a:pt x="1671866" y="115125"/>
                  </a:lnTo>
                  <a:close/>
                </a:path>
                <a:path w="2298065" h="328295">
                  <a:moveTo>
                    <a:pt x="2297798" y="244348"/>
                  </a:moveTo>
                  <a:lnTo>
                    <a:pt x="1943519" y="244348"/>
                  </a:lnTo>
                  <a:lnTo>
                    <a:pt x="2048560" y="10769"/>
                  </a:lnTo>
                  <a:lnTo>
                    <a:pt x="1792986" y="10769"/>
                  </a:lnTo>
                  <a:lnTo>
                    <a:pt x="1655737" y="317436"/>
                  </a:lnTo>
                  <a:lnTo>
                    <a:pt x="2264854" y="317436"/>
                  </a:lnTo>
                  <a:lnTo>
                    <a:pt x="2297798" y="244348"/>
                  </a:lnTo>
                  <a:close/>
                </a:path>
              </a:pathLst>
            </a:custGeom>
            <a:solidFill>
              <a:srgbClr val="FFFFFF"/>
            </a:solidFill>
          </p:spPr>
          <p:txBody>
            <a:bodyPr wrap="square" lIns="0" tIns="0" rIns="0" bIns="0" rtlCol="0"/>
            <a:lstStyle/>
            <a:p>
              <a:endParaRPr dirty="0">
                <a:latin typeface="Arial" panose="020B0604020202020204" pitchFamily="34" charset="0"/>
                <a:cs typeface="Arial" panose="020B0604020202020204" pitchFamily="34" charset="0"/>
              </a:endParaRPr>
            </a:p>
          </p:txBody>
        </p:sp>
        <p:pic>
          <p:nvPicPr>
            <p:cNvPr id="6" name="object 5">
              <a:extLst>
                <a:ext uri="{FF2B5EF4-FFF2-40B4-BE49-F238E27FC236}">
                  <a16:creationId xmlns:a16="http://schemas.microsoft.com/office/drawing/2014/main" id="{9A61EC15-0FDD-AFC5-D054-BD6453C8D9F7}"/>
                </a:ext>
              </a:extLst>
            </p:cNvPr>
            <p:cNvPicPr/>
            <p:nvPr/>
          </p:nvPicPr>
          <p:blipFill>
            <a:blip r:embed="rId3" cstate="screen">
              <a:extLst>
                <a:ext uri="{28A0092B-C50C-407E-A947-70E740481C1C}">
                  <a14:useLocalDpi xmlns:a14="http://schemas.microsoft.com/office/drawing/2010/main"/>
                </a:ext>
              </a:extLst>
            </a:blip>
            <a:stretch>
              <a:fillRect/>
            </a:stretch>
          </p:blipFill>
          <p:spPr>
            <a:xfrm>
              <a:off x="668034" y="533547"/>
              <a:ext cx="6592804" cy="732510"/>
            </a:xfrm>
            <a:prstGeom prst="rect">
              <a:avLst/>
            </a:prstGeom>
          </p:spPr>
        </p:pic>
      </p:grpSp>
      <p:sp>
        <p:nvSpPr>
          <p:cNvPr id="7" name="Text Placeholder 16">
            <a:extLst>
              <a:ext uri="{FF2B5EF4-FFF2-40B4-BE49-F238E27FC236}">
                <a16:creationId xmlns:a16="http://schemas.microsoft.com/office/drawing/2014/main" id="{D5CBB8FD-4175-AA54-D7DA-DC7A1E30C02A}"/>
              </a:ext>
            </a:extLst>
          </p:cNvPr>
          <p:cNvSpPr>
            <a:spLocks noGrp="1"/>
          </p:cNvSpPr>
          <p:nvPr>
            <p:ph type="body" sz="quarter" idx="13" hasCustomPrompt="1"/>
          </p:nvPr>
        </p:nvSpPr>
        <p:spPr>
          <a:xfrm>
            <a:off x="367025" y="2480469"/>
            <a:ext cx="8034025" cy="651668"/>
          </a:xfrm>
        </p:spPr>
        <p:txBody>
          <a:bodyPr>
            <a:noAutofit/>
          </a:bodyPr>
          <a:lstStyle>
            <a:lvl1pPr marL="0" indent="0">
              <a:buNone/>
              <a:defRPr sz="4400" b="1">
                <a:solidFill>
                  <a:schemeClr val="bg1"/>
                </a:solidFill>
                <a:latin typeface="Arial" panose="020B0604020202020204" pitchFamily="34" charset="0"/>
                <a:cs typeface="Arial" panose="020B0604020202020204" pitchFamily="34" charset="0"/>
              </a:defRPr>
            </a:lvl1pPr>
            <a:lvl2pPr>
              <a:defRPr sz="4400" b="1">
                <a:latin typeface="Arial" panose="020B0604020202020204" pitchFamily="34" charset="0"/>
                <a:cs typeface="Arial" panose="020B0604020202020204" pitchFamily="34" charset="0"/>
              </a:defRPr>
            </a:lvl2pPr>
            <a:lvl3pPr>
              <a:defRPr sz="4400" b="1">
                <a:latin typeface="Arial" panose="020B0604020202020204" pitchFamily="34" charset="0"/>
                <a:cs typeface="Arial" panose="020B0604020202020204" pitchFamily="34" charset="0"/>
              </a:defRPr>
            </a:lvl3pPr>
            <a:lvl4pPr>
              <a:defRPr sz="4400" b="1">
                <a:latin typeface="Arial" panose="020B0604020202020204" pitchFamily="34" charset="0"/>
                <a:cs typeface="Arial" panose="020B0604020202020204" pitchFamily="34" charset="0"/>
              </a:defRPr>
            </a:lvl4pPr>
            <a:lvl5pPr>
              <a:defRPr sz="4400" b="1">
                <a:latin typeface="Arial" panose="020B0604020202020204" pitchFamily="34" charset="0"/>
                <a:cs typeface="Arial" panose="020B0604020202020204" pitchFamily="34" charset="0"/>
              </a:defRPr>
            </a:lvl5pPr>
          </a:lstStyle>
          <a:p>
            <a:pPr>
              <a:lnSpc>
                <a:spcPts val="4000"/>
              </a:lnSpc>
            </a:pPr>
            <a:r>
              <a:rPr lang="en-US" b="1" dirty="0">
                <a:solidFill>
                  <a:schemeClr val="bg1"/>
                </a:solidFill>
                <a:latin typeface="Arial" panose="020B0604020202020204" pitchFamily="34" charset="0"/>
                <a:cs typeface="Arial" panose="020B0604020202020204" pitchFamily="34" charset="0"/>
              </a:rPr>
              <a:t>Case study</a:t>
            </a:r>
            <a:endParaRPr lang="en-US" sz="5400" dirty="0">
              <a:solidFill>
                <a:schemeClr val="bg1"/>
              </a:solidFill>
              <a:latin typeface="Arial" panose="020B0604020202020204" pitchFamily="34" charset="0"/>
              <a:cs typeface="Arial" panose="020B0604020202020204" pitchFamily="34" charset="0"/>
            </a:endParaRPr>
          </a:p>
        </p:txBody>
      </p:sp>
      <p:sp>
        <p:nvSpPr>
          <p:cNvPr id="8" name="Text Placeholder 18">
            <a:extLst>
              <a:ext uri="{FF2B5EF4-FFF2-40B4-BE49-F238E27FC236}">
                <a16:creationId xmlns:a16="http://schemas.microsoft.com/office/drawing/2014/main" id="{E1BB35B2-04B3-806A-AA83-D159489FC481}"/>
              </a:ext>
            </a:extLst>
          </p:cNvPr>
          <p:cNvSpPr>
            <a:spLocks noGrp="1"/>
          </p:cNvSpPr>
          <p:nvPr>
            <p:ph type="body" sz="quarter" idx="14" hasCustomPrompt="1"/>
          </p:nvPr>
        </p:nvSpPr>
        <p:spPr>
          <a:xfrm>
            <a:off x="366713" y="3224212"/>
            <a:ext cx="5986462" cy="1098550"/>
          </a:xfrm>
        </p:spPr>
        <p:txBody>
          <a:bodyPr>
            <a:normAutofit/>
          </a:bodyPr>
          <a:lstStyle>
            <a:lvl1pPr marL="0" indent="0">
              <a:buNone/>
              <a:defRPr sz="1800" b="1">
                <a:solidFill>
                  <a:schemeClr val="bg1"/>
                </a:solidFill>
                <a:latin typeface="Arial" panose="020B0604020202020204" pitchFamily="34" charset="0"/>
                <a:cs typeface="Arial" panose="020B0604020202020204" pitchFamily="34" charset="0"/>
              </a:defRPr>
            </a:lvl1pPr>
          </a:lstStyle>
          <a:p>
            <a:r>
              <a:rPr lang="en-US" sz="1800" b="1" dirty="0">
                <a:solidFill>
                  <a:schemeClr val="bg1"/>
                </a:solidFill>
                <a:latin typeface="Arial" panose="020B0604020202020204" pitchFamily="34" charset="0"/>
                <a:cs typeface="Arial" panose="020B0604020202020204" pitchFamily="34" charset="0"/>
              </a:rPr>
              <a:t>&lt; IDEA ID &gt; </a:t>
            </a:r>
            <a:br>
              <a:rPr lang="en-US" sz="1800" b="1" dirty="0">
                <a:solidFill>
                  <a:schemeClr val="bg1"/>
                </a:solidFill>
                <a:latin typeface="Arial" panose="020B0604020202020204" pitchFamily="34" charset="0"/>
                <a:cs typeface="Arial" panose="020B0604020202020204" pitchFamily="34" charset="0"/>
              </a:rPr>
            </a:br>
            <a:r>
              <a:rPr lang="en-US" sz="1800" b="1" dirty="0">
                <a:solidFill>
                  <a:schemeClr val="bg1"/>
                </a:solidFill>
                <a:latin typeface="Arial" panose="020B0604020202020204" pitchFamily="34" charset="0"/>
                <a:cs typeface="Arial" panose="020B0604020202020204" pitchFamily="34" charset="0"/>
              </a:rPr>
              <a:t>&lt; IDEA TITLE &gt;</a:t>
            </a:r>
            <a:br>
              <a:rPr lang="en-US" sz="1800" b="1" dirty="0">
                <a:solidFill>
                  <a:schemeClr val="bg1"/>
                </a:solidFill>
                <a:latin typeface="Arial" panose="020B0604020202020204" pitchFamily="34" charset="0"/>
                <a:cs typeface="Arial" panose="020B0604020202020204" pitchFamily="34" charset="0"/>
              </a:rPr>
            </a:br>
            <a:r>
              <a:rPr lang="en-US" sz="1800" b="1" dirty="0">
                <a:solidFill>
                  <a:schemeClr val="bg1"/>
                </a:solidFill>
                <a:latin typeface="Arial" panose="020B0604020202020204" pitchFamily="34" charset="0"/>
                <a:cs typeface="Arial" panose="020B0604020202020204" pitchFamily="34" charset="0"/>
              </a:rPr>
              <a:t>&lt; CUSTOMER NAME &gt; </a:t>
            </a:r>
            <a:endParaRPr lang="en-US" dirty="0"/>
          </a:p>
        </p:txBody>
      </p:sp>
      <p:pic>
        <p:nvPicPr>
          <p:cNvPr id="9" name="Picture 8" descr="Graphical user interface&#10;&#10;Description automatically generated with low confidence">
            <a:extLst>
              <a:ext uri="{FF2B5EF4-FFF2-40B4-BE49-F238E27FC236}">
                <a16:creationId xmlns:a16="http://schemas.microsoft.com/office/drawing/2014/main" id="{76C42851-2737-8DCF-0CA6-7ED6862C2B2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4801" y="1578318"/>
            <a:ext cx="2762250" cy="674609"/>
          </a:xfrm>
          <a:prstGeom prst="rect">
            <a:avLst/>
          </a:prstGeom>
        </p:spPr>
      </p:pic>
      <p:sp>
        <p:nvSpPr>
          <p:cNvPr id="10" name="Table Placeholder 52">
            <a:extLst>
              <a:ext uri="{FF2B5EF4-FFF2-40B4-BE49-F238E27FC236}">
                <a16:creationId xmlns:a16="http://schemas.microsoft.com/office/drawing/2014/main" id="{2EDF0330-C6CE-3771-3DE8-CFD37E895348}"/>
              </a:ext>
            </a:extLst>
          </p:cNvPr>
          <p:cNvSpPr>
            <a:spLocks noGrp="1"/>
          </p:cNvSpPr>
          <p:nvPr>
            <p:ph type="tbl" sz="quarter" idx="15"/>
          </p:nvPr>
        </p:nvSpPr>
        <p:spPr>
          <a:xfrm>
            <a:off x="366713" y="4414837"/>
            <a:ext cx="6811070" cy="2117726"/>
          </a:xfrm>
        </p:spPr>
        <p:txBody>
          <a:bodyPr>
            <a:normAutofit/>
          </a:bodyPr>
          <a:lstStyle>
            <a:lvl1pPr marL="0" indent="0">
              <a:buNone/>
              <a:defRPr sz="2000" b="1">
                <a:solidFill>
                  <a:schemeClr val="bg1"/>
                </a:solidFill>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175362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AF81C21-283D-C488-9CCC-B1C81ADD21E1}"/>
              </a:ext>
            </a:extLst>
          </p:cNvPr>
          <p:cNvSpPr>
            <a:spLocks noGrp="1"/>
          </p:cNvSpPr>
          <p:nvPr>
            <p:ph type="body" sz="quarter" idx="10"/>
          </p:nvPr>
        </p:nvSpPr>
        <p:spPr>
          <a:xfrm>
            <a:off x="323850" y="314325"/>
            <a:ext cx="11582400" cy="523875"/>
          </a:xfrm>
        </p:spPr>
        <p:txBody>
          <a:bodyPr>
            <a:normAutofit/>
          </a:bodyPr>
          <a:lstStyle>
            <a:lvl1pPr marL="0" indent="0">
              <a:buNone/>
              <a:defRPr sz="3000" b="1">
                <a:latin typeface="Arial" panose="020B0604020202020204" pitchFamily="34" charset="0"/>
                <a:cs typeface="Arial" panose="020B0604020202020204" pitchFamily="34" charset="0"/>
              </a:defRPr>
            </a:lvl1pPr>
          </a:lstStyle>
          <a:p>
            <a:pPr lvl="0"/>
            <a:r>
              <a:rPr lang="en-US" dirty="0"/>
              <a:t>Click to edit Master text style</a:t>
            </a:r>
          </a:p>
        </p:txBody>
      </p:sp>
      <p:sp>
        <p:nvSpPr>
          <p:cNvPr id="9" name="Text Placeholder 7">
            <a:extLst>
              <a:ext uri="{FF2B5EF4-FFF2-40B4-BE49-F238E27FC236}">
                <a16:creationId xmlns:a16="http://schemas.microsoft.com/office/drawing/2014/main" id="{5F32649A-2EE7-4676-D22F-0417B520F372}"/>
              </a:ext>
            </a:extLst>
          </p:cNvPr>
          <p:cNvSpPr>
            <a:spLocks noGrp="1"/>
          </p:cNvSpPr>
          <p:nvPr>
            <p:ph type="body" sz="quarter" idx="11"/>
          </p:nvPr>
        </p:nvSpPr>
        <p:spPr>
          <a:xfrm>
            <a:off x="323850" y="838200"/>
            <a:ext cx="11582400" cy="390525"/>
          </a:xfrm>
        </p:spPr>
        <p:txBody>
          <a:bodyPr>
            <a:normAutofit/>
          </a:bodyPr>
          <a:lstStyle>
            <a:lvl1pPr marL="0" indent="0">
              <a:buNone/>
              <a:defRPr sz="1700" b="0">
                <a:solidFill>
                  <a:srgbClr val="5F1EBE"/>
                </a:solidFill>
                <a:latin typeface="Arial" panose="020B0604020202020204" pitchFamily="34" charset="0"/>
                <a:cs typeface="Arial" panose="020B0604020202020204" pitchFamily="34" charset="0"/>
              </a:defRPr>
            </a:lvl1pPr>
          </a:lstStyle>
          <a:p>
            <a:pPr lvl="0"/>
            <a:r>
              <a:rPr lang="en-US" dirty="0"/>
              <a:t>Click to edit Master text style</a:t>
            </a:r>
          </a:p>
        </p:txBody>
      </p:sp>
    </p:spTree>
    <p:extLst>
      <p:ext uri="{BB962C8B-B14F-4D97-AF65-F5344CB8AC3E}">
        <p14:creationId xmlns:p14="http://schemas.microsoft.com/office/powerpoint/2010/main" val="1453804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C6CD-5DF2-A686-ADE7-A593D4348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52A6F-6BD3-2B80-B82E-149E4DBC21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90963E-BCB0-C165-95CE-3B973BFBE43F}"/>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5" name="Footer Placeholder 4">
            <a:extLst>
              <a:ext uri="{FF2B5EF4-FFF2-40B4-BE49-F238E27FC236}">
                <a16:creationId xmlns:a16="http://schemas.microsoft.com/office/drawing/2014/main" id="{9BB0449F-3DA8-893F-52B9-EE9F5B36D2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B8930-4F8A-6859-0AA4-E411C01E5CEB}"/>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871861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BE99-8D64-6D60-A426-D7E3E862E6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6EBA53-E22F-6FD8-A3EB-D4A444A4E8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0FC17F-F308-673F-D905-FA7C3B4C51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27B1D0-0D33-7D60-6C18-056D38E0E0C2}"/>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6" name="Footer Placeholder 5">
            <a:extLst>
              <a:ext uri="{FF2B5EF4-FFF2-40B4-BE49-F238E27FC236}">
                <a16:creationId xmlns:a16="http://schemas.microsoft.com/office/drawing/2014/main" id="{E504281F-704A-805F-41F2-B3CF42744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CE76B1-F7CD-549C-DF2F-E312ED92CD5E}"/>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65878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390A-6A18-6C7F-3815-2F03B3D9C8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3BE77-9A03-4E0A-2245-FD7A23E57E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E576DA-A198-430A-CB99-CE0A28B2E2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B83F0D-68D1-C029-6E22-E1C531CFA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3CE209-6440-AA4C-E2DF-8ED3FB8AAE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C6DD0A-E64A-B425-F57A-B4978AAA9931}"/>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8" name="Footer Placeholder 7">
            <a:extLst>
              <a:ext uri="{FF2B5EF4-FFF2-40B4-BE49-F238E27FC236}">
                <a16:creationId xmlns:a16="http://schemas.microsoft.com/office/drawing/2014/main" id="{B7520A4E-FA4B-48ED-E3F9-3E3641F1F3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90A174-70FB-D46B-5693-ED4C89C81883}"/>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11263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93F6-17AB-3446-1231-195C5C5E52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E8E14-B90E-DCB6-2A25-BFA5C60DFC0B}"/>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4" name="Footer Placeholder 3">
            <a:extLst>
              <a:ext uri="{FF2B5EF4-FFF2-40B4-BE49-F238E27FC236}">
                <a16:creationId xmlns:a16="http://schemas.microsoft.com/office/drawing/2014/main" id="{86EB075D-6934-B3A3-6268-0F10CB586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ABA766-DCDF-7858-BA50-D3CAAB93F18B}"/>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61067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B53BFC-E3A2-23F5-E4A7-2E3386CFCD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46BDDD96-206E-2FDA-6300-E41259E386A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93940" y="6355459"/>
            <a:ext cx="1347432" cy="185936"/>
          </a:xfrm>
          <a:prstGeom prst="rect">
            <a:avLst/>
          </a:prstGeom>
        </p:spPr>
      </p:pic>
      <p:pic>
        <p:nvPicPr>
          <p:cNvPr id="9" name="Picture 8">
            <a:extLst>
              <a:ext uri="{FF2B5EF4-FFF2-40B4-BE49-F238E27FC236}">
                <a16:creationId xmlns:a16="http://schemas.microsoft.com/office/drawing/2014/main" id="{1B0B1F6A-4949-D414-0578-2B376E4EBEEB}"/>
              </a:ext>
            </a:extLst>
          </p:cNvPr>
          <p:cNvPicPr>
            <a:picLocks noChangeAspect="1"/>
          </p:cNvPicPr>
          <p:nvPr userDrawn="1"/>
        </p:nvPicPr>
        <p:blipFill>
          <a:blip r:embed="rId4"/>
          <a:srcRect/>
          <a:stretch/>
        </p:blipFill>
        <p:spPr>
          <a:xfrm>
            <a:off x="341388" y="356173"/>
            <a:ext cx="4243947" cy="458267"/>
          </a:xfrm>
          <a:prstGeom prst="rect">
            <a:avLst/>
          </a:prstGeom>
        </p:spPr>
      </p:pic>
      <p:pic>
        <p:nvPicPr>
          <p:cNvPr id="10" name="Picture 9" descr="Graphical user interface&#10;&#10;Description automatically generated with low confidence">
            <a:extLst>
              <a:ext uri="{FF2B5EF4-FFF2-40B4-BE49-F238E27FC236}">
                <a16:creationId xmlns:a16="http://schemas.microsoft.com/office/drawing/2014/main" id="{550AFE89-BC60-D748-7224-06DDAD67120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41388" y="5988507"/>
            <a:ext cx="2263852" cy="552888"/>
          </a:xfrm>
          <a:prstGeom prst="rect">
            <a:avLst/>
          </a:prstGeom>
        </p:spPr>
      </p:pic>
    </p:spTree>
    <p:extLst>
      <p:ext uri="{BB962C8B-B14F-4D97-AF65-F5344CB8AC3E}">
        <p14:creationId xmlns:p14="http://schemas.microsoft.com/office/powerpoint/2010/main" val="1831358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9814C-EBBE-ED81-DF25-0745D22C2A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EE4ADA-C648-B6A7-61D3-AD09B23C6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3AA660-7D9A-F8EA-6575-63BDC857A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92F6C-124D-A4F8-6A31-7410A4356D76}"/>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6" name="Footer Placeholder 5">
            <a:extLst>
              <a:ext uri="{FF2B5EF4-FFF2-40B4-BE49-F238E27FC236}">
                <a16:creationId xmlns:a16="http://schemas.microsoft.com/office/drawing/2014/main" id="{02F27C10-842E-A953-03F9-847265BC64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D4249-95AC-2E94-E034-E900E1589E79}"/>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2032535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5BF23-A31F-D549-5ABD-640DB70E8B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4B3C76-8BBB-0A0F-7735-3B273945F4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37159C-F30F-FC84-D7A9-9E6A1E853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A46C7C-9ABE-A758-64D7-DABE1F11654D}"/>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6" name="Footer Placeholder 5">
            <a:extLst>
              <a:ext uri="{FF2B5EF4-FFF2-40B4-BE49-F238E27FC236}">
                <a16:creationId xmlns:a16="http://schemas.microsoft.com/office/drawing/2014/main" id="{BC967871-C7C2-9B77-5C6E-3ED619F432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378EF-3AF7-BDF1-D498-CF0C7526B1FB}"/>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1033950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3C5C0-848C-9D49-FDD0-655393F7D1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F6DE35-8AD1-FB50-3DDA-554A093702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470DA-D3C3-D503-483B-0AB7DED8448E}"/>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5" name="Footer Placeholder 4">
            <a:extLst>
              <a:ext uri="{FF2B5EF4-FFF2-40B4-BE49-F238E27FC236}">
                <a16:creationId xmlns:a16="http://schemas.microsoft.com/office/drawing/2014/main" id="{A3E430E8-DC7F-0002-3A88-3F6D8C0C4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F8105B-6591-1124-5301-293517831FDB}"/>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3555030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B39278-0E4F-7215-3AEA-2BA7ACA79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4C2305-7A90-05BB-5EA6-69FBB72B66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AED18-8D7E-20B6-E001-D847B4B7E861}"/>
              </a:ext>
            </a:extLst>
          </p:cNvPr>
          <p:cNvSpPr>
            <a:spLocks noGrp="1"/>
          </p:cNvSpPr>
          <p:nvPr>
            <p:ph type="dt" sz="half" idx="10"/>
          </p:nvPr>
        </p:nvSpPr>
        <p:spPr/>
        <p:txBody>
          <a:bodyPr/>
          <a:lstStyle/>
          <a:p>
            <a:fld id="{EC6740E1-BEB0-4622-BD94-BBE44AB597B7}" type="datetimeFigureOut">
              <a:rPr lang="en-US" smtClean="0"/>
              <a:t>9/27/2024</a:t>
            </a:fld>
            <a:endParaRPr lang="en-US"/>
          </a:p>
        </p:txBody>
      </p:sp>
      <p:sp>
        <p:nvSpPr>
          <p:cNvPr id="5" name="Footer Placeholder 4">
            <a:extLst>
              <a:ext uri="{FF2B5EF4-FFF2-40B4-BE49-F238E27FC236}">
                <a16:creationId xmlns:a16="http://schemas.microsoft.com/office/drawing/2014/main" id="{6FF0F59D-BD48-A675-8268-AD827B8B3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0374F-3094-F642-EF90-C6486C3C8C7E}"/>
              </a:ext>
            </a:extLst>
          </p:cNvPr>
          <p:cNvSpPr>
            <a:spLocks noGrp="1"/>
          </p:cNvSpPr>
          <p:nvPr>
            <p:ph type="sldNum" sz="quarter" idx="12"/>
          </p:nvPr>
        </p:nvSpPr>
        <p:spPr/>
        <p:txBody>
          <a:bodyPr/>
          <a:lstStyle/>
          <a:p>
            <a:fld id="{0FDBCBD3-9B29-4A58-9CAC-DACDA5A43240}" type="slidenum">
              <a:rPr lang="en-US" smtClean="0"/>
              <a:t>‹#›</a:t>
            </a:fld>
            <a:endParaRPr lang="en-US"/>
          </a:p>
        </p:txBody>
      </p:sp>
    </p:spTree>
    <p:extLst>
      <p:ext uri="{BB962C8B-B14F-4D97-AF65-F5344CB8AC3E}">
        <p14:creationId xmlns:p14="http://schemas.microsoft.com/office/powerpoint/2010/main" val="66052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C93AFB-5BCB-CEFC-BA1B-2C8A1FA29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04BDD0-8D3B-C005-EF6C-2BD77850A6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79F62-9FA4-E156-C2E2-9F3C875E1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6740E1-BEB0-4622-BD94-BBE44AB597B7}" type="datetimeFigureOut">
              <a:rPr lang="en-US" smtClean="0"/>
              <a:t>9/27/2024</a:t>
            </a:fld>
            <a:endParaRPr lang="en-US"/>
          </a:p>
        </p:txBody>
      </p:sp>
      <p:sp>
        <p:nvSpPr>
          <p:cNvPr id="5" name="Footer Placeholder 4">
            <a:extLst>
              <a:ext uri="{FF2B5EF4-FFF2-40B4-BE49-F238E27FC236}">
                <a16:creationId xmlns:a16="http://schemas.microsoft.com/office/drawing/2014/main" id="{3F416913-269B-0CB3-C6F9-686F0A9DE9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B1AAE2-5805-8299-9616-FD13131CA7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BCBD3-9B29-4A58-9CAC-DACDA5A43240}" type="slidenum">
              <a:rPr lang="en-US" smtClean="0"/>
              <a:t>‹#›</a:t>
            </a:fld>
            <a:endParaRPr lang="en-US"/>
          </a:p>
        </p:txBody>
      </p:sp>
    </p:spTree>
    <p:extLst>
      <p:ext uri="{BB962C8B-B14F-4D97-AF65-F5344CB8AC3E}">
        <p14:creationId xmlns:p14="http://schemas.microsoft.com/office/powerpoint/2010/main" val="32523320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eb.microsoftstream.com/video/03593404-9310-487b-aef8-6f06e6e939c3"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VCTEAM@HCL.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f4.myhcl.com/ValueCreation/home/index"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BBD988-4297-17C5-A8EC-BEA7D5FD9772}"/>
              </a:ext>
            </a:extLst>
          </p:cNvPr>
          <p:cNvSpPr txBox="1">
            <a:spLocks/>
          </p:cNvSpPr>
          <p:nvPr/>
        </p:nvSpPr>
        <p:spPr>
          <a:xfrm>
            <a:off x="342900" y="2242003"/>
            <a:ext cx="5400675" cy="8872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ts val="4000"/>
              </a:lnSpc>
              <a:spcBef>
                <a:spcPct val="0"/>
              </a:spcBef>
              <a:spcAft>
                <a:spcPts val="0"/>
              </a:spcAft>
              <a:buClrTx/>
              <a:buSzTx/>
              <a:buFontTx/>
              <a:buNone/>
              <a:tabLst/>
              <a:defRPr/>
            </a:pPr>
            <a:r>
              <a:rPr kumimoji="0" lang="en-US" sz="35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Case Study Document</a:t>
            </a:r>
            <a:endParaRPr kumimoji="0" lang="en-US" sz="35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graphicFrame>
        <p:nvGraphicFramePr>
          <p:cNvPr id="9" name="Table 9">
            <a:extLst>
              <a:ext uri="{FF2B5EF4-FFF2-40B4-BE49-F238E27FC236}">
                <a16:creationId xmlns:a16="http://schemas.microsoft.com/office/drawing/2014/main" id="{6AE51EFC-1D78-EB17-283F-50263D995013}"/>
              </a:ext>
            </a:extLst>
          </p:cNvPr>
          <p:cNvGraphicFramePr>
            <a:graphicFrameLocks noGrp="1"/>
          </p:cNvGraphicFramePr>
          <p:nvPr>
            <p:extLst>
              <p:ext uri="{D42A27DB-BD31-4B8C-83A1-F6EECF244321}">
                <p14:modId xmlns:p14="http://schemas.microsoft.com/office/powerpoint/2010/main" val="2221025520"/>
              </p:ext>
            </p:extLst>
          </p:nvPr>
        </p:nvGraphicFramePr>
        <p:xfrm>
          <a:off x="342901" y="4660474"/>
          <a:ext cx="6924675" cy="2042160"/>
        </p:xfrm>
        <a:graphic>
          <a:graphicData uri="http://schemas.openxmlformats.org/drawingml/2006/table">
            <a:tbl>
              <a:tblPr firstRow="1" bandRow="1">
                <a:tableStyleId>{5C22544A-7EE6-4342-B048-85BDC9FD1C3A}</a:tableStyleId>
              </a:tblPr>
              <a:tblGrid>
                <a:gridCol w="2552699">
                  <a:extLst>
                    <a:ext uri="{9D8B030D-6E8A-4147-A177-3AD203B41FA5}">
                      <a16:colId xmlns:a16="http://schemas.microsoft.com/office/drawing/2014/main" val="4242084156"/>
                    </a:ext>
                  </a:extLst>
                </a:gridCol>
                <a:gridCol w="1428750">
                  <a:extLst>
                    <a:ext uri="{9D8B030D-6E8A-4147-A177-3AD203B41FA5}">
                      <a16:colId xmlns:a16="http://schemas.microsoft.com/office/drawing/2014/main" val="2956275682"/>
                    </a:ext>
                  </a:extLst>
                </a:gridCol>
                <a:gridCol w="2943226">
                  <a:extLst>
                    <a:ext uri="{9D8B030D-6E8A-4147-A177-3AD203B41FA5}">
                      <a16:colId xmlns:a16="http://schemas.microsoft.com/office/drawing/2014/main" val="1994635052"/>
                    </a:ext>
                  </a:extLst>
                </a:gridCol>
              </a:tblGrid>
              <a:tr h="211879">
                <a:tc>
                  <a:txBody>
                    <a:bodyPr/>
                    <a:lstStyle/>
                    <a:p>
                      <a:r>
                        <a:rPr lang="en-US" sz="1400" b="1" dirty="0">
                          <a:latin typeface="Arial" panose="020B0604020202020204" pitchFamily="34" charset="0"/>
                          <a:cs typeface="Arial" panose="020B0604020202020204" pitchFamily="34" charset="0"/>
                        </a:rPr>
                        <a:t>Name</a:t>
                      </a:r>
                      <a:endParaRPr lang="en-US"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SAP ID</a:t>
                      </a:r>
                      <a:endParaRPr lang="en-US" sz="1400" dirty="0">
                        <a:latin typeface="Arial" panose="020B0604020202020204" pitchFamily="34" charset="0"/>
                        <a:cs typeface="Arial" panose="020B0604020202020204" pitchFamily="34" charset="0"/>
                      </a:endParaRPr>
                    </a:p>
                  </a:txBody>
                  <a:tcPr/>
                </a:tc>
                <a:tc>
                  <a:txBody>
                    <a:bodyPr/>
                    <a:lstStyle/>
                    <a:p>
                      <a:r>
                        <a:rPr lang="en-US" sz="1400" b="1" dirty="0">
                          <a:latin typeface="Arial" panose="020B0604020202020204" pitchFamily="34" charset="0"/>
                          <a:cs typeface="Arial" panose="020B0604020202020204" pitchFamily="34" charset="0"/>
                        </a:rPr>
                        <a:t>Email</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19759588"/>
                  </a:ext>
                </a:extLst>
              </a:tr>
              <a:tr h="211879">
                <a:tc>
                  <a:txBody>
                    <a:bodyPr/>
                    <a:lstStyle/>
                    <a:p>
                      <a:r>
                        <a:rPr lang="en-US" sz="1400" dirty="0">
                          <a:latin typeface="Arial" panose="020B0604020202020204" pitchFamily="34" charset="0"/>
                          <a:cs typeface="Arial" panose="020B0604020202020204" pitchFamily="34" charset="0"/>
                        </a:rPr>
                        <a:t>Naga Venkata </a:t>
                      </a:r>
                      <a:r>
                        <a:rPr lang="en-US" sz="1400" dirty="0" err="1">
                          <a:latin typeface="Arial" panose="020B0604020202020204" pitchFamily="34" charset="0"/>
                          <a:cs typeface="Arial" panose="020B0604020202020204" pitchFamily="34" charset="0"/>
                        </a:rPr>
                        <a:t>Someswara</a:t>
                      </a:r>
                      <a:r>
                        <a:rPr lang="en-US" sz="1400" dirty="0">
                          <a:latin typeface="Arial" panose="020B0604020202020204" pitchFamily="34" charset="0"/>
                          <a:cs typeface="Arial" panose="020B0604020202020204" pitchFamily="34" charset="0"/>
                        </a:rPr>
                        <a:t> Rao Gonaboyina</a:t>
                      </a:r>
                    </a:p>
                  </a:txBody>
                  <a:tcPr/>
                </a:tc>
                <a:tc>
                  <a:txBody>
                    <a:bodyPr/>
                    <a:lstStyle/>
                    <a:p>
                      <a:r>
                        <a:rPr lang="en-US" sz="1400" dirty="0">
                          <a:latin typeface="Arial" panose="020B0604020202020204" pitchFamily="34" charset="0"/>
                          <a:cs typeface="Arial" panose="020B0604020202020204" pitchFamily="34" charset="0"/>
                        </a:rPr>
                        <a:t>51882980</a:t>
                      </a:r>
                    </a:p>
                  </a:txBody>
                  <a:tcPr/>
                </a:tc>
                <a:tc>
                  <a:txBody>
                    <a:bodyPr/>
                    <a:lstStyle/>
                    <a:p>
                      <a:r>
                        <a:rPr lang="en-US" sz="1400" dirty="0">
                          <a:latin typeface="Arial" panose="020B0604020202020204" pitchFamily="34" charset="0"/>
                          <a:cs typeface="Arial" panose="020B0604020202020204" pitchFamily="34" charset="0"/>
                        </a:rPr>
                        <a:t>Nagavenkataso-gonab@hcltech.com</a:t>
                      </a:r>
                    </a:p>
                  </a:txBody>
                  <a:tcPr/>
                </a:tc>
                <a:extLst>
                  <a:ext uri="{0D108BD9-81ED-4DB2-BD59-A6C34878D82A}">
                    <a16:rowId xmlns:a16="http://schemas.microsoft.com/office/drawing/2014/main" val="805583367"/>
                  </a:ext>
                </a:extLst>
              </a:tr>
              <a:tr h="211879">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1504890"/>
                  </a:ext>
                </a:extLst>
              </a:tr>
              <a:tr h="211879">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78011976"/>
                  </a:ext>
                </a:extLst>
              </a:tr>
              <a:tr h="211879">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15035738"/>
                  </a:ext>
                </a:extLst>
              </a:tr>
              <a:tr h="211879">
                <a:tc>
                  <a:txBody>
                    <a:bodyPr/>
                    <a:lstStyle/>
                    <a:p>
                      <a:endParaRPr lang="en-US" sz="140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66159260"/>
                  </a:ext>
                </a:extLst>
              </a:tr>
            </a:tbl>
          </a:graphicData>
        </a:graphic>
      </p:graphicFrame>
      <p:graphicFrame>
        <p:nvGraphicFramePr>
          <p:cNvPr id="2" name="Table 2">
            <a:extLst>
              <a:ext uri="{FF2B5EF4-FFF2-40B4-BE49-F238E27FC236}">
                <a16:creationId xmlns:a16="http://schemas.microsoft.com/office/drawing/2014/main" id="{2BA6C393-3DAC-2572-591D-1B2692FD5A77}"/>
              </a:ext>
            </a:extLst>
          </p:cNvPr>
          <p:cNvGraphicFramePr>
            <a:graphicFrameLocks noGrp="1"/>
          </p:cNvGraphicFramePr>
          <p:nvPr>
            <p:extLst>
              <p:ext uri="{D42A27DB-BD31-4B8C-83A1-F6EECF244321}">
                <p14:modId xmlns:p14="http://schemas.microsoft.com/office/powerpoint/2010/main" val="276010914"/>
              </p:ext>
            </p:extLst>
          </p:nvPr>
        </p:nvGraphicFramePr>
        <p:xfrm>
          <a:off x="342901" y="3195284"/>
          <a:ext cx="6924675" cy="1112520"/>
        </p:xfrm>
        <a:graphic>
          <a:graphicData uri="http://schemas.openxmlformats.org/drawingml/2006/table">
            <a:tbl>
              <a:tblPr firstRow="1" bandRow="1">
                <a:tableStyleId>{5C22544A-7EE6-4342-B048-85BDC9FD1C3A}</a:tableStyleId>
              </a:tblPr>
              <a:tblGrid>
                <a:gridCol w="6924675">
                  <a:extLst>
                    <a:ext uri="{9D8B030D-6E8A-4147-A177-3AD203B41FA5}">
                      <a16:colId xmlns:a16="http://schemas.microsoft.com/office/drawing/2014/main" val="3844446169"/>
                    </a:ext>
                  </a:extLst>
                </a:gridCol>
              </a:tblGrid>
              <a:tr h="370840">
                <a:tc>
                  <a:txBody>
                    <a:bodyPr/>
                    <a:lstStyle/>
                    <a:p>
                      <a:pPr marL="0" algn="l" defTabSz="914400" rtl="0" eaLnBrk="1" latinLnBrk="0" hangingPunct="1"/>
                      <a:r>
                        <a:rPr lang="en-US" sz="1800" b="1" kern="1200" dirty="0">
                          <a:solidFill>
                            <a:schemeClr val="bg1"/>
                          </a:solidFill>
                          <a:latin typeface="Arial" panose="020B0604020202020204" pitchFamily="34" charset="0"/>
                          <a:ea typeface="+mn-ea"/>
                          <a:cs typeface="Arial" panose="020B0604020202020204" pitchFamily="34" charset="0"/>
                        </a:rPr>
                        <a:t>IDEA ID: </a:t>
                      </a:r>
                      <a:r>
                        <a:rPr lang="en-US" sz="1800" b="0" kern="1200" dirty="0">
                          <a:solidFill>
                            <a:schemeClr val="bg1"/>
                          </a:solidFill>
                          <a:latin typeface="Arial" panose="020B0604020202020204" pitchFamily="34" charset="0"/>
                          <a:ea typeface="+mn-ea"/>
                          <a:cs typeface="Arial" panose="020B0604020202020204" pitchFamily="34" charset="0"/>
                        </a:rPr>
                        <a:t>197175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370840">
                <a:tc>
                  <a:txBody>
                    <a:bodyPr/>
                    <a:lstStyle/>
                    <a:p>
                      <a:pPr algn="l"/>
                      <a:r>
                        <a:rPr lang="en-US" b="1" dirty="0">
                          <a:solidFill>
                            <a:schemeClr val="bg1"/>
                          </a:solidFill>
                          <a:latin typeface="Arial" panose="020B0604020202020204" pitchFamily="34" charset="0"/>
                          <a:cs typeface="Arial" panose="020B0604020202020204" pitchFamily="34" charset="0"/>
                        </a:rPr>
                        <a:t>IDEA TITLE: </a:t>
                      </a:r>
                      <a:r>
                        <a:rPr lang="en-US" sz="1800" b="0" kern="1200" dirty="0">
                          <a:solidFill>
                            <a:schemeClr val="bg1"/>
                          </a:solidFill>
                          <a:latin typeface="Arial" panose="020B0604020202020204" pitchFamily="34" charset="0"/>
                          <a:ea typeface="+mn-ea"/>
                          <a:cs typeface="Arial" panose="020B0604020202020204" pitchFamily="34" charset="0"/>
                        </a:rPr>
                        <a:t>Optimize Cubby Close to handle large shipments​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r h="370840">
                <a:tc>
                  <a:txBody>
                    <a:bodyPr/>
                    <a:lstStyle/>
                    <a:p>
                      <a:pPr algn="l"/>
                      <a:r>
                        <a:rPr lang="en-US" b="1" dirty="0">
                          <a:solidFill>
                            <a:schemeClr val="bg1"/>
                          </a:solidFill>
                          <a:latin typeface="Arial" panose="020B0604020202020204" pitchFamily="34" charset="0"/>
                          <a:cs typeface="Arial" panose="020B0604020202020204" pitchFamily="34" charset="0"/>
                        </a:rPr>
                        <a:t>CUSTOMER DOMAIN/ INDUSTRY/ VERTICAL: </a:t>
                      </a:r>
                      <a:r>
                        <a:rPr lang="en-US" b="0" dirty="0">
                          <a:solidFill>
                            <a:schemeClr val="bg1"/>
                          </a:solidFill>
                          <a:latin typeface="Arial" panose="020B0604020202020204" pitchFamily="34" charset="0"/>
                          <a:cs typeface="Arial" panose="020B0604020202020204" pitchFamily="34" charset="0"/>
                        </a:rPr>
                        <a:t>Aerospace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6722060"/>
                  </a:ext>
                </a:extLst>
              </a:tr>
            </a:tbl>
          </a:graphicData>
        </a:graphic>
      </p:graphicFrame>
    </p:spTree>
    <p:extLst>
      <p:ext uri="{BB962C8B-B14F-4D97-AF65-F5344CB8AC3E}">
        <p14:creationId xmlns:p14="http://schemas.microsoft.com/office/powerpoint/2010/main" val="949709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0C8FBAD-1B9A-0B8A-4242-9C3E78A90DB3}"/>
              </a:ext>
            </a:extLst>
          </p:cNvPr>
          <p:cNvSpPr/>
          <p:nvPr/>
        </p:nvSpPr>
        <p:spPr>
          <a:xfrm>
            <a:off x="571658" y="621284"/>
            <a:ext cx="11197370" cy="5615434"/>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6AE348E-6D30-8A4D-06AA-F0C5097AAA63}"/>
              </a:ext>
            </a:extLst>
          </p:cNvPr>
          <p:cNvSpPr txBox="1"/>
          <p:nvPr/>
        </p:nvSpPr>
        <p:spPr>
          <a:xfrm>
            <a:off x="926830" y="1074509"/>
            <a:ext cx="10487025" cy="4708981"/>
          </a:xfrm>
          <a:prstGeom prst="rect">
            <a:avLst/>
          </a:prstGeom>
          <a:noFill/>
        </p:spPr>
        <p:txBody>
          <a:bodyPr wrap="square">
            <a:spAutoFit/>
          </a:bodyPr>
          <a:lstStyle/>
          <a:p>
            <a:pPr marL="0" marR="0" lvl="1" indent="0" algn="just" defTabSz="914400" rtl="0" eaLnBrk="0" fontAlgn="auto" latinLnBrk="0" hangingPunct="0">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The information contained in this presentation is accessible to all employees of HCLTech globally. You must follow below mentioned instruction to ensure the confidentiality of information shared by you as part of this ‘case study document’.</a:t>
            </a:r>
          </a:p>
          <a:p>
            <a:pPr marL="0" marR="0" lvl="1" indent="0" algn="just" defTabSz="914400" rtl="0" eaLnBrk="0" fontAlgn="auto" latinLnBrk="0" hangingPunct="0">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Make sure that all the Mandatory fields are populated accurately with information shared in layman terms.</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Make sure you fill in “CUSTOMER DOMAIN” instead of “CUSTOMER NAME” on the first slide of this presentation file to maintain confidentiality.</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Make sure the </a:t>
            </a:r>
            <a:r>
              <a:rPr kumimoji="0" lang="en-US" sz="1500" b="1" i="0"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customer's name is not shared anywhere </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in the case study document.</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Make sure all the abbreviations are provided with their full forms, wherever used.</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Make sure you use this latest case study template to populate details for your idea at VC Portal.</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Throughout this presentation file, make sure that no content is reused in any of the mandatory field sections i.e., </a:t>
            </a:r>
            <a:r>
              <a:rPr kumimoji="0" lang="en-US" sz="1500" b="1" i="0"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every section should contain unique information</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To know more about Innovation Zones, please refer </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hlinkClick r:id="rId2"/>
              </a:rPr>
              <a:t>Innovation Zone explanation video</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228600" marR="0" lvl="1" indent="-228600" algn="just" defTabSz="914400" rtl="0" eaLnBrk="0" fontAlgn="auto" latinLnBrk="0" hangingPunct="0">
              <a:lnSpc>
                <a:spcPct val="100000"/>
              </a:lnSpc>
              <a:spcBef>
                <a:spcPts val="0"/>
              </a:spcBef>
              <a:spcAft>
                <a:spcPts val="0"/>
              </a:spcAft>
              <a:buClrTx/>
              <a:buSzTx/>
              <a:buFontTx/>
              <a:buAutoNum type="arabicPeriod"/>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“Background/ Problem Statement” / “Proposed Solution” should be written in a story format containing the following elements in the given order (y</a:t>
            </a:r>
            <a:r>
              <a:rPr kumimoji="0" lang="en-US" sz="1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ou may use this as a reference</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800100" marR="0" lvl="2" indent="-342900" algn="just" defTabSz="914400" rtl="0" eaLnBrk="0" fontAlgn="auto" latinLnBrk="0" hangingPunct="0">
              <a:lnSpc>
                <a:spcPct val="100000"/>
              </a:lnSpc>
              <a:spcBef>
                <a:spcPts val="0"/>
              </a:spcBef>
              <a:spcAft>
                <a:spcPts val="0"/>
              </a:spcAft>
              <a:buClrTx/>
              <a:buSzTx/>
              <a:buFontTx/>
              <a:buAutoNum type="alphaLcParenR"/>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What is the problem being faced?/ What is the proposed solution?</a:t>
            </a:r>
          </a:p>
          <a:p>
            <a:pPr marL="800100" marR="0" lvl="2" indent="-342900" algn="just" defTabSz="914400" rtl="0" eaLnBrk="0" fontAlgn="auto" latinLnBrk="0" hangingPunct="0">
              <a:lnSpc>
                <a:spcPct val="100000"/>
              </a:lnSpc>
              <a:spcBef>
                <a:spcPts val="0"/>
              </a:spcBef>
              <a:spcAft>
                <a:spcPts val="0"/>
              </a:spcAft>
              <a:buClrTx/>
              <a:buSzTx/>
              <a:buFontTx/>
              <a:buAutoNum type="alphaLcParenR"/>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Description of the problem / Description of the solution</a:t>
            </a:r>
          </a:p>
          <a:p>
            <a:pPr marL="800100" marR="0" lvl="2" indent="-342900" algn="just" defTabSz="914400" rtl="0" eaLnBrk="0" fontAlgn="auto" latinLnBrk="0" hangingPunct="0">
              <a:lnSpc>
                <a:spcPct val="100000"/>
              </a:lnSpc>
              <a:spcBef>
                <a:spcPts val="0"/>
              </a:spcBef>
              <a:spcAft>
                <a:spcPts val="0"/>
              </a:spcAft>
              <a:buClrTx/>
              <a:buSzTx/>
              <a:buFontTx/>
              <a:buAutoNum type="alphaLcParenR"/>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Conclusion of the problem (</a:t>
            </a:r>
            <a:r>
              <a:rPr kumimoji="0" lang="en-US" sz="1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i.e., what is the problem leading to?</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 Conclusion of the solution (</a:t>
            </a:r>
            <a:r>
              <a:rPr kumimoji="0" lang="en-US" sz="1500" b="0"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i.e., what has the solution led? What has changed post implementation of the solution?</a:t>
            </a: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457200" marR="0" lvl="2" indent="0" algn="l" defTabSz="914400" rtl="0" eaLnBrk="0" fontAlgn="auto" latinLnBrk="0" hangingPunct="0">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1" indent="0" algn="l" defTabSz="914400" rtl="0" eaLnBrk="0" fontAlgn="auto" latinLnBrk="0" hangingPunct="0">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Please refer Annexure of this presentation file to explore some of the exemplary case study files as sample.</a:t>
            </a: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5010150" y="416589"/>
            <a:ext cx="2171700"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panose="020B0604020202020204" pitchFamily="34" charset="0"/>
                <a:ea typeface="Calibri" pitchFamily="34" charset="0"/>
                <a:cs typeface="Arial" panose="020B0604020202020204" pitchFamily="34" charset="0"/>
              </a:rPr>
              <a:t>Disclaimer</a:t>
            </a:r>
            <a:endParaRPr kumimoji="0" lang="en-GB" sz="1400" b="1" i="0" u="none" strike="noStrike" kern="1200" cap="none" spc="0" normalizeH="0" baseline="0" noProof="0" dirty="0">
              <a:ln>
                <a:noFill/>
              </a:ln>
              <a:solidFill>
                <a:srgbClr val="FF0000"/>
              </a:solidFill>
              <a:effectLst/>
              <a:uLnTx/>
              <a:uFillTx/>
              <a:latin typeface="Arial" panose="020B0604020202020204" pitchFamily="34" charset="0"/>
              <a:ea typeface="Calibri" pitchFamily="34" charset="0"/>
              <a:cs typeface="Arial" panose="020B0604020202020204" pitchFamily="34" charset="0"/>
            </a:endParaRPr>
          </a:p>
        </p:txBody>
      </p:sp>
    </p:spTree>
    <p:extLst>
      <p:ext uri="{BB962C8B-B14F-4D97-AF65-F5344CB8AC3E}">
        <p14:creationId xmlns:p14="http://schemas.microsoft.com/office/powerpoint/2010/main" val="521249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605734C-CEE1-E08E-4D99-40FC06309363}"/>
              </a:ext>
            </a:extLst>
          </p:cNvPr>
          <p:cNvSpPr txBox="1">
            <a:spLocks/>
          </p:cNvSpPr>
          <p:nvPr/>
        </p:nvSpPr>
        <p:spPr>
          <a:xfrm>
            <a:off x="246666" y="218193"/>
            <a:ext cx="11604215" cy="5238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Case Study 1/4</a:t>
            </a:r>
          </a:p>
        </p:txBody>
      </p:sp>
      <p:sp>
        <p:nvSpPr>
          <p:cNvPr id="6" name="Rectangle: Rounded Corners 5">
            <a:extLst>
              <a:ext uri="{FF2B5EF4-FFF2-40B4-BE49-F238E27FC236}">
                <a16:creationId xmlns:a16="http://schemas.microsoft.com/office/drawing/2014/main" id="{E0C8FBAD-1B9A-0B8A-4242-9C3E78A90DB3}"/>
              </a:ext>
            </a:extLst>
          </p:cNvPr>
          <p:cNvSpPr/>
          <p:nvPr/>
        </p:nvSpPr>
        <p:spPr>
          <a:xfrm>
            <a:off x="331596" y="1123951"/>
            <a:ext cx="5648325" cy="3181350"/>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A643D9C1-DD99-3735-E84C-36E22799C738}"/>
              </a:ext>
            </a:extLst>
          </p:cNvPr>
          <p:cNvSpPr/>
          <p:nvPr/>
        </p:nvSpPr>
        <p:spPr>
          <a:xfrm>
            <a:off x="6198996" y="1123951"/>
            <a:ext cx="5648325" cy="3181350"/>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52610114-3481-494F-6446-5C032E7B824C}"/>
              </a:ext>
            </a:extLst>
          </p:cNvPr>
          <p:cNvSpPr/>
          <p:nvPr/>
        </p:nvSpPr>
        <p:spPr>
          <a:xfrm>
            <a:off x="331596" y="4610984"/>
            <a:ext cx="11519285" cy="1952623"/>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6AE348E-6D30-8A4D-06AA-F0C5097AAA63}"/>
              </a:ext>
            </a:extLst>
          </p:cNvPr>
          <p:cNvSpPr txBox="1"/>
          <p:nvPr/>
        </p:nvSpPr>
        <p:spPr>
          <a:xfrm>
            <a:off x="550671" y="1478843"/>
            <a:ext cx="5173854" cy="461665"/>
          </a:xfrm>
          <a:prstGeom prst="rect">
            <a:avLst/>
          </a:prstGeom>
          <a:noFill/>
        </p:spPr>
        <p:txBody>
          <a:bodyPr wrap="square">
            <a:spAutoFit/>
          </a:bodyPr>
          <a:lstStyle/>
          <a:p>
            <a:pPr marL="0" marR="0" lvl="1" indent="0" algn="l" defTabSz="914400" rtl="0" eaLnBrk="0" fontAlgn="auto" latinLnBrk="0" hangingPunct="0">
              <a:lnSpc>
                <a:spcPct val="100000"/>
              </a:lnSpc>
              <a:spcBef>
                <a:spcPts val="0"/>
              </a:spcBef>
              <a:spcAft>
                <a:spcPts val="0"/>
              </a:spcAft>
              <a:buClrTx/>
              <a:buSzTx/>
              <a:buFontTx/>
              <a:buNone/>
              <a:tabLst/>
              <a:defRPr/>
            </a:pPr>
            <a:r>
              <a:rPr lang="en-US" sz="1200" dirty="0">
                <a:solidFill>
                  <a:prstClr val="black"/>
                </a:solidFill>
                <a:latin typeface="Arial" panose="020B0604020202020204" pitchFamily="34" charset="0"/>
                <a:cs typeface="Arial" panose="020B0604020202020204" pitchFamily="34" charset="0"/>
              </a:rPr>
              <a:t>Complete WMS order processing stop working whenever there is a large shipment(&gt;300 lines).</a:t>
            </a: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1233808" y="924116"/>
            <a:ext cx="4083715"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Background / Problem Statement</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2" name="TextBox 1">
            <a:extLst>
              <a:ext uri="{FF2B5EF4-FFF2-40B4-BE49-F238E27FC236}">
                <a16:creationId xmlns:a16="http://schemas.microsoft.com/office/drawing/2014/main" id="{42C7B6BD-14B5-8F27-9585-495AA7880098}"/>
              </a:ext>
            </a:extLst>
          </p:cNvPr>
          <p:cNvSpPr txBox="1"/>
          <p:nvPr/>
        </p:nvSpPr>
        <p:spPr>
          <a:xfrm>
            <a:off x="6467475" y="1478843"/>
            <a:ext cx="5173854" cy="830997"/>
          </a:xfrm>
          <a:prstGeom prst="rect">
            <a:avLst/>
          </a:prstGeom>
          <a:noFill/>
        </p:spPr>
        <p:txBody>
          <a:bodyPr wrap="square">
            <a:spAutoFit/>
          </a:bodyPr>
          <a:lstStyle/>
          <a:p>
            <a:pPr marL="0" marR="0" lvl="1" indent="0" algn="l" defTabSz="914400" rtl="0" eaLnBrk="0" fontAlgn="auto" latinLnBrk="0" hangingPunct="0">
              <a:lnSpc>
                <a:spcPct val="100000"/>
              </a:lnSpc>
              <a:spcBef>
                <a:spcPts val="0"/>
              </a:spcBef>
              <a:spcAft>
                <a:spcPts val="0"/>
              </a:spcAft>
              <a:buClrTx/>
              <a:buSzTx/>
              <a:buFontTx/>
              <a:buNone/>
              <a:tabLst/>
              <a:defRPr/>
            </a:pPr>
            <a:r>
              <a:rPr lang="en-US" sz="1200" dirty="0">
                <a:solidFill>
                  <a:prstClr val="black"/>
                </a:solidFill>
                <a:latin typeface="Arial" panose="020B0604020202020204" pitchFamily="34" charset="0"/>
                <a:cs typeface="Arial" panose="020B0604020202020204" pitchFamily="34" charset="0"/>
              </a:rPr>
              <a:t>Current cubby close rule is designed in such a way that it does multiple full table scan to get the desired cubby closure locations. This approach impacts the overall performance of the application and went into hung state​</a:t>
            </a:r>
          </a:p>
        </p:txBody>
      </p:sp>
      <p:sp>
        <p:nvSpPr>
          <p:cNvPr id="3" name="Rounded Rectangle 9">
            <a:extLst>
              <a:ext uri="{FF2B5EF4-FFF2-40B4-BE49-F238E27FC236}">
                <a16:creationId xmlns:a16="http://schemas.microsoft.com/office/drawing/2014/main" id="{D9702A72-BD37-A60C-45D6-DF314C0C4A9C}"/>
              </a:ext>
            </a:extLst>
          </p:cNvPr>
          <p:cNvSpPr>
            <a:spLocks noChangeArrowheads="1"/>
          </p:cNvSpPr>
          <p:nvPr/>
        </p:nvSpPr>
        <p:spPr bwMode="auto">
          <a:xfrm>
            <a:off x="7961941" y="919258"/>
            <a:ext cx="2129553"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Gaps Identified</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5" name="Rounded Rectangle 9">
            <a:extLst>
              <a:ext uri="{FF2B5EF4-FFF2-40B4-BE49-F238E27FC236}">
                <a16:creationId xmlns:a16="http://schemas.microsoft.com/office/drawing/2014/main" id="{68A6AE2A-D45B-C43C-F4EF-278D9B9FC2F9}"/>
              </a:ext>
            </a:extLst>
          </p:cNvPr>
          <p:cNvSpPr>
            <a:spLocks noChangeArrowheads="1"/>
          </p:cNvSpPr>
          <p:nvPr/>
        </p:nvSpPr>
        <p:spPr bwMode="auto">
          <a:xfrm>
            <a:off x="4291214" y="4406291"/>
            <a:ext cx="3600048"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Customer’s Domain / Industry </a:t>
            </a:r>
          </a:p>
        </p:txBody>
      </p:sp>
      <p:sp>
        <p:nvSpPr>
          <p:cNvPr id="7" name="TextBox 6">
            <a:extLst>
              <a:ext uri="{FF2B5EF4-FFF2-40B4-BE49-F238E27FC236}">
                <a16:creationId xmlns:a16="http://schemas.microsoft.com/office/drawing/2014/main" id="{8D3E1C25-1BAA-8089-1E63-C54497468F03}"/>
              </a:ext>
            </a:extLst>
          </p:cNvPr>
          <p:cNvSpPr txBox="1"/>
          <p:nvPr/>
        </p:nvSpPr>
        <p:spPr>
          <a:xfrm>
            <a:off x="550671" y="4950653"/>
            <a:ext cx="11090658" cy="276999"/>
          </a:xfrm>
          <a:prstGeom prst="rect">
            <a:avLst/>
          </a:prstGeom>
          <a:noFill/>
        </p:spPr>
        <p:txBody>
          <a:bodyPr wrap="square">
            <a:spAutoFit/>
          </a:bodyPr>
          <a:lstStyle/>
          <a:p>
            <a:pPr marL="0" marR="0" lvl="1" indent="0" algn="l" defTabSz="914400" rtl="0" eaLnBrk="0" fontAlgn="auto" latinLnBrk="0" hangingPunct="0">
              <a:lnSpc>
                <a:spcPct val="100000"/>
              </a:lnSpc>
              <a:spcBef>
                <a:spcPts val="0"/>
              </a:spcBef>
              <a:spcAft>
                <a:spcPts val="0"/>
              </a:spcAft>
              <a:buClrTx/>
              <a:buSzTx/>
              <a:buFontTx/>
              <a:buNone/>
              <a:tabLst/>
              <a:defRPr/>
            </a:pPr>
            <a:r>
              <a:rPr lang="en-US" sz="1200" dirty="0">
                <a:solidFill>
                  <a:prstClr val="black"/>
                </a:solidFill>
                <a:latin typeface="Arial" panose="020B0604020202020204" pitchFamily="34" charset="0"/>
                <a:cs typeface="Arial" panose="020B0604020202020204" pitchFamily="34" charset="0"/>
              </a:rPr>
              <a:t>The idea is implemented for Aerospace Industry Customer.</a:t>
            </a:r>
          </a:p>
        </p:txBody>
      </p:sp>
      <p:sp>
        <p:nvSpPr>
          <p:cNvPr id="13" name="TextBox 12">
            <a:extLst>
              <a:ext uri="{FF2B5EF4-FFF2-40B4-BE49-F238E27FC236}">
                <a16:creationId xmlns:a16="http://schemas.microsoft.com/office/drawing/2014/main" id="{65C53BBA-B560-F985-7284-2C0DF3CD4AD3}"/>
              </a:ext>
            </a:extLst>
          </p:cNvPr>
          <p:cNvSpPr txBox="1"/>
          <p:nvPr/>
        </p:nvSpPr>
        <p:spPr>
          <a:xfrm>
            <a:off x="10575116" y="341631"/>
            <a:ext cx="15216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Mandatory Field</a:t>
            </a:r>
          </a:p>
        </p:txBody>
      </p:sp>
    </p:spTree>
    <p:extLst>
      <p:ext uri="{BB962C8B-B14F-4D97-AF65-F5344CB8AC3E}">
        <p14:creationId xmlns:p14="http://schemas.microsoft.com/office/powerpoint/2010/main" val="4131517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605734C-CEE1-E08E-4D99-40FC06309363}"/>
              </a:ext>
            </a:extLst>
          </p:cNvPr>
          <p:cNvSpPr txBox="1">
            <a:spLocks/>
          </p:cNvSpPr>
          <p:nvPr/>
        </p:nvSpPr>
        <p:spPr>
          <a:xfrm>
            <a:off x="246666" y="218193"/>
            <a:ext cx="11604215" cy="5238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Case Study 2/4</a:t>
            </a:r>
          </a:p>
        </p:txBody>
      </p:sp>
      <p:sp>
        <p:nvSpPr>
          <p:cNvPr id="6" name="Rectangle: Rounded Corners 5">
            <a:extLst>
              <a:ext uri="{FF2B5EF4-FFF2-40B4-BE49-F238E27FC236}">
                <a16:creationId xmlns:a16="http://schemas.microsoft.com/office/drawing/2014/main" id="{E0C8FBAD-1B9A-0B8A-4242-9C3E78A90DB3}"/>
              </a:ext>
            </a:extLst>
          </p:cNvPr>
          <p:cNvSpPr/>
          <p:nvPr/>
        </p:nvSpPr>
        <p:spPr>
          <a:xfrm>
            <a:off x="331596" y="1123951"/>
            <a:ext cx="11519285" cy="3181350"/>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52610114-3481-494F-6446-5C032E7B824C}"/>
              </a:ext>
            </a:extLst>
          </p:cNvPr>
          <p:cNvSpPr/>
          <p:nvPr/>
        </p:nvSpPr>
        <p:spPr>
          <a:xfrm>
            <a:off x="331596" y="4610984"/>
            <a:ext cx="11519285" cy="1952623"/>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6AE348E-6D30-8A4D-06AA-F0C5097AAA63}"/>
              </a:ext>
            </a:extLst>
          </p:cNvPr>
          <p:cNvSpPr txBox="1"/>
          <p:nvPr/>
        </p:nvSpPr>
        <p:spPr>
          <a:xfrm>
            <a:off x="550671" y="1478843"/>
            <a:ext cx="11090658" cy="276999"/>
          </a:xfrm>
          <a:prstGeom prst="rect">
            <a:avLst/>
          </a:prstGeom>
          <a:noFill/>
        </p:spPr>
        <p:txBody>
          <a:bodyPr wrap="square">
            <a:spAutoFit/>
          </a:bodyPr>
          <a:lstStyle/>
          <a:p>
            <a:pPr marL="0" lvl="1" eaLnBrk="0" hangingPunct="0">
              <a:defRPr/>
            </a:pPr>
            <a:r>
              <a:rPr lang="en-US" sz="1200" dirty="0">
                <a:solidFill>
                  <a:prstClr val="black"/>
                </a:solidFill>
                <a:latin typeface="Arial" panose="020B0604020202020204" pitchFamily="34" charset="0"/>
                <a:cs typeface="Arial" panose="020B0604020202020204" pitchFamily="34" charset="0"/>
              </a:rPr>
              <a:t>Enhanced the cubby closure logic to optimize the cubby close rule run time, which avoids multiple full table scan and improves the WMS system performance.</a:t>
            </a: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4836483" y="921900"/>
            <a:ext cx="2509510"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Proposed Solution</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5" name="Rounded Rectangle 9">
            <a:extLst>
              <a:ext uri="{FF2B5EF4-FFF2-40B4-BE49-F238E27FC236}">
                <a16:creationId xmlns:a16="http://schemas.microsoft.com/office/drawing/2014/main" id="{68A6AE2A-D45B-C43C-F4EF-278D9B9FC2F9}"/>
              </a:ext>
            </a:extLst>
          </p:cNvPr>
          <p:cNvSpPr>
            <a:spLocks noChangeArrowheads="1"/>
          </p:cNvSpPr>
          <p:nvPr/>
        </p:nvSpPr>
        <p:spPr bwMode="auto">
          <a:xfrm>
            <a:off x="5060072" y="4406291"/>
            <a:ext cx="2062331"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User’s Impacted</a:t>
            </a:r>
          </a:p>
        </p:txBody>
      </p:sp>
      <p:sp>
        <p:nvSpPr>
          <p:cNvPr id="7" name="TextBox 6">
            <a:extLst>
              <a:ext uri="{FF2B5EF4-FFF2-40B4-BE49-F238E27FC236}">
                <a16:creationId xmlns:a16="http://schemas.microsoft.com/office/drawing/2014/main" id="{8D3E1C25-1BAA-8089-1E63-C54497468F03}"/>
              </a:ext>
            </a:extLst>
          </p:cNvPr>
          <p:cNvSpPr txBox="1"/>
          <p:nvPr/>
        </p:nvSpPr>
        <p:spPr>
          <a:xfrm>
            <a:off x="550671" y="4950653"/>
            <a:ext cx="11090658" cy="276999"/>
          </a:xfrm>
          <a:prstGeom prst="rect">
            <a:avLst/>
          </a:prstGeom>
          <a:noFill/>
        </p:spPr>
        <p:txBody>
          <a:bodyPr wrap="square">
            <a:spAutoFit/>
          </a:bodyPr>
          <a:lstStyle/>
          <a:p>
            <a:pPr marL="0" marR="0" lvl="1" indent="0" algn="l" defTabSz="914400" rtl="0" eaLnBrk="0" fontAlgn="auto" latinLnBrk="0" hangingPunct="0">
              <a:lnSpc>
                <a:spcPct val="100000"/>
              </a:lnSpc>
              <a:spcBef>
                <a:spcPts val="0"/>
              </a:spcBef>
              <a:spcAft>
                <a:spcPts val="0"/>
              </a:spcAft>
              <a:buClrTx/>
              <a:buSzTx/>
              <a:buFontTx/>
              <a:buNone/>
              <a:tabLst/>
              <a:defRPr/>
            </a:pPr>
            <a:r>
              <a:rPr lang="en-US" sz="1200" dirty="0">
                <a:solidFill>
                  <a:prstClr val="black"/>
                </a:solidFill>
                <a:latin typeface="Arial" panose="020B0604020202020204" pitchFamily="34" charset="0"/>
                <a:cs typeface="Arial" panose="020B0604020202020204" pitchFamily="34" charset="0"/>
              </a:rPr>
              <a:t>Entire Outbound users in the Miami warehouse.</a:t>
            </a:r>
          </a:p>
        </p:txBody>
      </p:sp>
      <p:sp>
        <p:nvSpPr>
          <p:cNvPr id="13" name="TextBox 12">
            <a:extLst>
              <a:ext uri="{FF2B5EF4-FFF2-40B4-BE49-F238E27FC236}">
                <a16:creationId xmlns:a16="http://schemas.microsoft.com/office/drawing/2014/main" id="{65C53BBA-B560-F985-7284-2C0DF3CD4AD3}"/>
              </a:ext>
            </a:extLst>
          </p:cNvPr>
          <p:cNvSpPr txBox="1"/>
          <p:nvPr/>
        </p:nvSpPr>
        <p:spPr>
          <a:xfrm>
            <a:off x="10575116" y="341631"/>
            <a:ext cx="15216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Mandatory Field</a:t>
            </a:r>
          </a:p>
        </p:txBody>
      </p:sp>
    </p:spTree>
    <p:extLst>
      <p:ext uri="{BB962C8B-B14F-4D97-AF65-F5344CB8AC3E}">
        <p14:creationId xmlns:p14="http://schemas.microsoft.com/office/powerpoint/2010/main" val="1716035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605734C-CEE1-E08E-4D99-40FC06309363}"/>
              </a:ext>
            </a:extLst>
          </p:cNvPr>
          <p:cNvSpPr txBox="1">
            <a:spLocks/>
          </p:cNvSpPr>
          <p:nvPr/>
        </p:nvSpPr>
        <p:spPr>
          <a:xfrm>
            <a:off x="246666" y="218193"/>
            <a:ext cx="11604215" cy="5238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Case Study 3/4</a:t>
            </a:r>
          </a:p>
        </p:txBody>
      </p:sp>
      <p:sp>
        <p:nvSpPr>
          <p:cNvPr id="6" name="Rectangle: Rounded Corners 5">
            <a:extLst>
              <a:ext uri="{FF2B5EF4-FFF2-40B4-BE49-F238E27FC236}">
                <a16:creationId xmlns:a16="http://schemas.microsoft.com/office/drawing/2014/main" id="{E0C8FBAD-1B9A-0B8A-4242-9C3E78A90DB3}"/>
              </a:ext>
            </a:extLst>
          </p:cNvPr>
          <p:cNvSpPr/>
          <p:nvPr/>
        </p:nvSpPr>
        <p:spPr>
          <a:xfrm>
            <a:off x="331596" y="1123950"/>
            <a:ext cx="5648325" cy="5372099"/>
          </a:xfrm>
          <a:prstGeom prst="roundRect">
            <a:avLst>
              <a:gd name="adj" fmla="val 3551"/>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A643D9C1-DD99-3735-E84C-36E22799C738}"/>
              </a:ext>
            </a:extLst>
          </p:cNvPr>
          <p:cNvSpPr/>
          <p:nvPr/>
        </p:nvSpPr>
        <p:spPr>
          <a:xfrm>
            <a:off x="6202556" y="1123950"/>
            <a:ext cx="5648325" cy="5372099"/>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1556391" y="930049"/>
            <a:ext cx="3198733"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Benefits to the Customer</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3" name="Rounded Rectangle 9">
            <a:extLst>
              <a:ext uri="{FF2B5EF4-FFF2-40B4-BE49-F238E27FC236}">
                <a16:creationId xmlns:a16="http://schemas.microsoft.com/office/drawing/2014/main" id="{D9702A72-BD37-A60C-45D6-DF314C0C4A9C}"/>
              </a:ext>
            </a:extLst>
          </p:cNvPr>
          <p:cNvSpPr>
            <a:spLocks noChangeArrowheads="1"/>
          </p:cNvSpPr>
          <p:nvPr/>
        </p:nvSpPr>
        <p:spPr bwMode="auto">
          <a:xfrm>
            <a:off x="6894109" y="907598"/>
            <a:ext cx="4258096"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Is this idea beneficial to HCL Team ?</a:t>
            </a:r>
          </a:p>
        </p:txBody>
      </p:sp>
      <p:sp>
        <p:nvSpPr>
          <p:cNvPr id="13" name="TextBox 12">
            <a:extLst>
              <a:ext uri="{FF2B5EF4-FFF2-40B4-BE49-F238E27FC236}">
                <a16:creationId xmlns:a16="http://schemas.microsoft.com/office/drawing/2014/main" id="{65C53BBA-B560-F985-7284-2C0DF3CD4AD3}"/>
              </a:ext>
            </a:extLst>
          </p:cNvPr>
          <p:cNvSpPr txBox="1"/>
          <p:nvPr/>
        </p:nvSpPr>
        <p:spPr>
          <a:xfrm>
            <a:off x="10575116" y="341631"/>
            <a:ext cx="15216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Mandatory Field</a:t>
            </a:r>
          </a:p>
        </p:txBody>
      </p:sp>
      <p:graphicFrame>
        <p:nvGraphicFramePr>
          <p:cNvPr id="2" name="Table 2">
            <a:extLst>
              <a:ext uri="{FF2B5EF4-FFF2-40B4-BE49-F238E27FC236}">
                <a16:creationId xmlns:a16="http://schemas.microsoft.com/office/drawing/2014/main" id="{2FB88610-DD07-0FDE-55A3-35EAE90E2864}"/>
              </a:ext>
            </a:extLst>
          </p:cNvPr>
          <p:cNvGraphicFramePr>
            <a:graphicFrameLocks noGrp="1"/>
          </p:cNvGraphicFramePr>
          <p:nvPr>
            <p:extLst>
              <p:ext uri="{D42A27DB-BD31-4B8C-83A1-F6EECF244321}">
                <p14:modId xmlns:p14="http://schemas.microsoft.com/office/powerpoint/2010/main" val="707838949"/>
              </p:ext>
            </p:extLst>
          </p:nvPr>
        </p:nvGraphicFramePr>
        <p:xfrm>
          <a:off x="441331" y="1530376"/>
          <a:ext cx="5409803" cy="2285968"/>
        </p:xfrm>
        <a:graphic>
          <a:graphicData uri="http://schemas.openxmlformats.org/drawingml/2006/table">
            <a:tbl>
              <a:tblPr firstRow="1" bandRow="1">
                <a:tableStyleId>{5C22544A-7EE6-4342-B048-85BDC9FD1C3A}</a:tableStyleId>
              </a:tblPr>
              <a:tblGrid>
                <a:gridCol w="5409803">
                  <a:extLst>
                    <a:ext uri="{9D8B030D-6E8A-4147-A177-3AD203B41FA5}">
                      <a16:colId xmlns:a16="http://schemas.microsoft.com/office/drawing/2014/main" val="3844446169"/>
                    </a:ext>
                  </a:extLst>
                </a:gridCol>
              </a:tblGrid>
              <a:tr h="316673">
                <a:tc>
                  <a:txBody>
                    <a:bodyPr/>
                    <a:lstStyle/>
                    <a:p>
                      <a:pPr marL="0" algn="l" defTabSz="914400" rtl="0" eaLnBrk="1" latinLnBrk="0" hangingPunct="1"/>
                      <a:r>
                        <a:rPr lang="en-US" sz="1400" b="1" kern="1200" dirty="0">
                          <a:solidFill>
                            <a:schemeClr val="dk1"/>
                          </a:solidFill>
                          <a:latin typeface="Arial" panose="020B0604020202020204" pitchFamily="34" charset="0"/>
                          <a:ea typeface="+mn-ea"/>
                          <a:cs typeface="Arial" panose="020B0604020202020204" pitchFamily="34" charset="0"/>
                        </a:rPr>
                        <a:t>Quantifiable Benefits</a:t>
                      </a:r>
                      <a:r>
                        <a:rPr lang="en-US" sz="1400" b="1" kern="1200" dirty="0">
                          <a:solidFill>
                            <a:srgbClr val="FF0000"/>
                          </a:solidFill>
                          <a:latin typeface="Arial" panose="020B0604020202020204" pitchFamily="34" charset="0"/>
                          <a:ea typeface="+mn-ea"/>
                          <a:cs typeface="Arial" panose="020B0604020202020204" pitchFamily="34"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1969295">
                <a:tc>
                  <a:txBody>
                    <a:bodyPr/>
                    <a:lstStyle/>
                    <a:p>
                      <a:pPr rtl="0" fontAlgn="base"/>
                      <a:r>
                        <a:rPr lang="en-US" sz="1200" kern="1200" dirty="0">
                          <a:solidFill>
                            <a:prstClr val="black"/>
                          </a:solidFill>
                          <a:latin typeface="Arial" panose="020B0604020202020204" pitchFamily="34" charset="0"/>
                          <a:ea typeface="+mn-ea"/>
                          <a:cs typeface="Arial" panose="020B0604020202020204" pitchFamily="34" charset="0"/>
                        </a:rPr>
                        <a:t>WMS system can handle the huge shipments which was lagging in present logic. ​</a:t>
                      </a:r>
                    </a:p>
                    <a:p>
                      <a:pPr rtl="0" fontAlgn="base"/>
                      <a:r>
                        <a:rPr lang="en-US" sz="1200" kern="1200" dirty="0">
                          <a:solidFill>
                            <a:prstClr val="black"/>
                          </a:solidFill>
                          <a:latin typeface="Arial" panose="020B0604020202020204" pitchFamily="34" charset="0"/>
                          <a:ea typeface="+mn-ea"/>
                          <a:cs typeface="Arial" panose="020B0604020202020204" pitchFamily="34" charset="0"/>
                        </a:rPr>
                        <a:t>On time order processing, shipment and enhanced application support efficiency. ​</a:t>
                      </a:r>
                    </a:p>
                    <a:p>
                      <a:pPr rtl="0" fontAlgn="base"/>
                      <a:r>
                        <a:rPr lang="en-US" sz="1200" kern="1200" dirty="0">
                          <a:solidFill>
                            <a:prstClr val="black"/>
                          </a:solidFill>
                          <a:latin typeface="Arial" panose="020B0604020202020204" pitchFamily="34" charset="0"/>
                          <a:ea typeface="+mn-ea"/>
                          <a:cs typeface="Arial" panose="020B0604020202020204" pitchFamily="34" charset="0"/>
                        </a:rPr>
                        <a:t>It also helped to reduce the cycle time from 45 secs to 9 secs.​</a:t>
                      </a:r>
                    </a:p>
                    <a:p>
                      <a:pPr algn="l"/>
                      <a:endParaRPr lang="en-US" sz="1400" b="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00B0F0"/>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bl>
          </a:graphicData>
        </a:graphic>
      </p:graphicFrame>
      <p:graphicFrame>
        <p:nvGraphicFramePr>
          <p:cNvPr id="5" name="Table 2">
            <a:extLst>
              <a:ext uri="{FF2B5EF4-FFF2-40B4-BE49-F238E27FC236}">
                <a16:creationId xmlns:a16="http://schemas.microsoft.com/office/drawing/2014/main" id="{8AC4FF01-F639-4684-D20B-D91306BBCFE6}"/>
              </a:ext>
            </a:extLst>
          </p:cNvPr>
          <p:cNvGraphicFramePr>
            <a:graphicFrameLocks noGrp="1"/>
          </p:cNvGraphicFramePr>
          <p:nvPr/>
        </p:nvGraphicFramePr>
        <p:xfrm>
          <a:off x="463941" y="3999270"/>
          <a:ext cx="5409803" cy="2371049"/>
        </p:xfrm>
        <a:graphic>
          <a:graphicData uri="http://schemas.openxmlformats.org/drawingml/2006/table">
            <a:tbl>
              <a:tblPr firstRow="1" bandRow="1">
                <a:tableStyleId>{5C22544A-7EE6-4342-B048-85BDC9FD1C3A}</a:tableStyleId>
              </a:tblPr>
              <a:tblGrid>
                <a:gridCol w="5409803">
                  <a:extLst>
                    <a:ext uri="{9D8B030D-6E8A-4147-A177-3AD203B41FA5}">
                      <a16:colId xmlns:a16="http://schemas.microsoft.com/office/drawing/2014/main" val="3844446169"/>
                    </a:ext>
                  </a:extLst>
                </a:gridCol>
              </a:tblGrid>
              <a:tr h="428751">
                <a:tc>
                  <a:txBody>
                    <a:bodyPr/>
                    <a:lstStyle/>
                    <a:p>
                      <a:pPr marL="0" algn="l" defTabSz="914400" rtl="0" eaLnBrk="1" latinLnBrk="0" hangingPunct="1"/>
                      <a:r>
                        <a:rPr lang="en-US" sz="1400" b="1" kern="1200" dirty="0">
                          <a:solidFill>
                            <a:schemeClr val="dk1"/>
                          </a:solidFill>
                          <a:latin typeface="Arial" panose="020B0604020202020204" pitchFamily="34" charset="0"/>
                          <a:ea typeface="+mn-ea"/>
                          <a:cs typeface="Arial" panose="020B0604020202020204" pitchFamily="34" charset="0"/>
                        </a:rPr>
                        <a:t>Qualitative Benefits</a:t>
                      </a:r>
                      <a:r>
                        <a:rPr lang="en-US" sz="1400" b="1" kern="1200" dirty="0">
                          <a:solidFill>
                            <a:srgbClr val="FF0000"/>
                          </a:solidFill>
                          <a:latin typeface="Arial" panose="020B0604020202020204" pitchFamily="34" charset="0"/>
                          <a:ea typeface="+mn-ea"/>
                          <a:cs typeface="Arial" panose="020B0604020202020204" pitchFamily="34"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1942298">
                <a:tc>
                  <a:txBody>
                    <a:bodyPr/>
                    <a:lstStyle/>
                    <a:p>
                      <a:pPr algn="l"/>
                      <a:endParaRPr lang="en-US" sz="1400" b="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bl>
          </a:graphicData>
        </a:graphic>
      </p:graphicFrame>
      <p:graphicFrame>
        <p:nvGraphicFramePr>
          <p:cNvPr id="10" name="Table 2">
            <a:extLst>
              <a:ext uri="{FF2B5EF4-FFF2-40B4-BE49-F238E27FC236}">
                <a16:creationId xmlns:a16="http://schemas.microsoft.com/office/drawing/2014/main" id="{A45DA008-A4BB-127C-CC21-4C83353B2FB8}"/>
              </a:ext>
            </a:extLst>
          </p:cNvPr>
          <p:cNvGraphicFramePr>
            <a:graphicFrameLocks noGrp="1"/>
          </p:cNvGraphicFramePr>
          <p:nvPr/>
        </p:nvGraphicFramePr>
        <p:xfrm>
          <a:off x="6318255" y="1530376"/>
          <a:ext cx="5409803" cy="2285968"/>
        </p:xfrm>
        <a:graphic>
          <a:graphicData uri="http://schemas.openxmlformats.org/drawingml/2006/table">
            <a:tbl>
              <a:tblPr firstRow="1" bandRow="1">
                <a:tableStyleId>{5C22544A-7EE6-4342-B048-85BDC9FD1C3A}</a:tableStyleId>
              </a:tblPr>
              <a:tblGrid>
                <a:gridCol w="5409803">
                  <a:extLst>
                    <a:ext uri="{9D8B030D-6E8A-4147-A177-3AD203B41FA5}">
                      <a16:colId xmlns:a16="http://schemas.microsoft.com/office/drawing/2014/main" val="3844446169"/>
                    </a:ext>
                  </a:extLst>
                </a:gridCol>
              </a:tblGrid>
              <a:tr h="316673">
                <a:tc>
                  <a:txBody>
                    <a:bodyPr/>
                    <a:lstStyle/>
                    <a:p>
                      <a:pPr marL="0" algn="l" defTabSz="914400" rtl="0" eaLnBrk="1" latinLnBrk="0" hangingPunct="1"/>
                      <a:r>
                        <a:rPr lang="en-US" sz="1400" b="1" kern="1200" dirty="0">
                          <a:solidFill>
                            <a:schemeClr val="dk1"/>
                          </a:solidFill>
                          <a:latin typeface="Arial" panose="020B0604020202020204" pitchFamily="34" charset="0"/>
                          <a:ea typeface="+mn-ea"/>
                          <a:cs typeface="Arial" panose="020B0604020202020204" pitchFamily="34" charset="0"/>
                        </a:rPr>
                        <a:t>Quantifiable Benefits</a:t>
                      </a:r>
                      <a:endParaRPr lang="en-US" sz="1400" b="1" kern="1200" dirty="0">
                        <a:solidFill>
                          <a:srgbClr val="FF0000"/>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1969295">
                <a:tc>
                  <a:txBody>
                    <a:bodyPr/>
                    <a:lstStyle/>
                    <a:p>
                      <a:pPr algn="l"/>
                      <a:endParaRPr lang="en-US" sz="1400" b="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00B0F0"/>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bl>
          </a:graphicData>
        </a:graphic>
      </p:graphicFrame>
      <p:graphicFrame>
        <p:nvGraphicFramePr>
          <p:cNvPr id="11" name="Table 2">
            <a:extLst>
              <a:ext uri="{FF2B5EF4-FFF2-40B4-BE49-F238E27FC236}">
                <a16:creationId xmlns:a16="http://schemas.microsoft.com/office/drawing/2014/main" id="{2173CBC2-952F-837A-40B5-9D4F1244A7C2}"/>
              </a:ext>
            </a:extLst>
          </p:cNvPr>
          <p:cNvGraphicFramePr>
            <a:graphicFrameLocks noGrp="1"/>
          </p:cNvGraphicFramePr>
          <p:nvPr/>
        </p:nvGraphicFramePr>
        <p:xfrm>
          <a:off x="6318254" y="3970672"/>
          <a:ext cx="5409803" cy="2371049"/>
        </p:xfrm>
        <a:graphic>
          <a:graphicData uri="http://schemas.openxmlformats.org/drawingml/2006/table">
            <a:tbl>
              <a:tblPr firstRow="1" bandRow="1">
                <a:tableStyleId>{5C22544A-7EE6-4342-B048-85BDC9FD1C3A}</a:tableStyleId>
              </a:tblPr>
              <a:tblGrid>
                <a:gridCol w="5409803">
                  <a:extLst>
                    <a:ext uri="{9D8B030D-6E8A-4147-A177-3AD203B41FA5}">
                      <a16:colId xmlns:a16="http://schemas.microsoft.com/office/drawing/2014/main" val="3844446169"/>
                    </a:ext>
                  </a:extLst>
                </a:gridCol>
              </a:tblGrid>
              <a:tr h="428751">
                <a:tc>
                  <a:txBody>
                    <a:bodyPr/>
                    <a:lstStyle/>
                    <a:p>
                      <a:pPr marL="0" algn="l" defTabSz="914400" rtl="0" eaLnBrk="1" latinLnBrk="0" hangingPunct="1"/>
                      <a:r>
                        <a:rPr lang="en-US" sz="1400" b="1" kern="1200">
                          <a:solidFill>
                            <a:schemeClr val="dk1"/>
                          </a:solidFill>
                          <a:latin typeface="Arial" panose="020B0604020202020204" pitchFamily="34" charset="0"/>
                          <a:ea typeface="+mn-ea"/>
                          <a:cs typeface="Arial" panose="020B0604020202020204" pitchFamily="34" charset="0"/>
                        </a:rPr>
                        <a:t>Qualitative Benefits</a:t>
                      </a:r>
                      <a:endParaRPr lang="en-US" sz="1400" b="1" kern="1200" dirty="0">
                        <a:solidFill>
                          <a:srgbClr val="FF0000"/>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1942298">
                <a:tc>
                  <a:txBody>
                    <a:bodyPr/>
                    <a:lstStyle/>
                    <a:p>
                      <a:pPr algn="l"/>
                      <a:endParaRPr lang="en-US" sz="1400" b="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bl>
          </a:graphicData>
        </a:graphic>
      </p:graphicFrame>
    </p:spTree>
    <p:extLst>
      <p:ext uri="{BB962C8B-B14F-4D97-AF65-F5344CB8AC3E}">
        <p14:creationId xmlns:p14="http://schemas.microsoft.com/office/powerpoint/2010/main" val="1117793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605734C-CEE1-E08E-4D99-40FC06309363}"/>
              </a:ext>
            </a:extLst>
          </p:cNvPr>
          <p:cNvSpPr txBox="1">
            <a:spLocks/>
          </p:cNvSpPr>
          <p:nvPr/>
        </p:nvSpPr>
        <p:spPr>
          <a:xfrm>
            <a:off x="246666" y="218193"/>
            <a:ext cx="11604215" cy="5238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Case Study 4/4</a:t>
            </a:r>
          </a:p>
        </p:txBody>
      </p:sp>
      <p:sp>
        <p:nvSpPr>
          <p:cNvPr id="6" name="Rectangle: Rounded Corners 5">
            <a:extLst>
              <a:ext uri="{FF2B5EF4-FFF2-40B4-BE49-F238E27FC236}">
                <a16:creationId xmlns:a16="http://schemas.microsoft.com/office/drawing/2014/main" id="{E0C8FBAD-1B9A-0B8A-4242-9C3E78A90DB3}"/>
              </a:ext>
            </a:extLst>
          </p:cNvPr>
          <p:cNvSpPr/>
          <p:nvPr/>
        </p:nvSpPr>
        <p:spPr>
          <a:xfrm>
            <a:off x="331596" y="1123951"/>
            <a:ext cx="5648325" cy="3181350"/>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t"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8" name="Rectangle: Rounded Corners 7">
            <a:extLst>
              <a:ext uri="{FF2B5EF4-FFF2-40B4-BE49-F238E27FC236}">
                <a16:creationId xmlns:a16="http://schemas.microsoft.com/office/drawing/2014/main" id="{A643D9C1-DD99-3735-E84C-36E22799C738}"/>
              </a:ext>
            </a:extLst>
          </p:cNvPr>
          <p:cNvSpPr/>
          <p:nvPr/>
        </p:nvSpPr>
        <p:spPr>
          <a:xfrm>
            <a:off x="6202556" y="1123951"/>
            <a:ext cx="5648325" cy="3181350"/>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52610114-3481-494F-6446-5C032E7B824C}"/>
              </a:ext>
            </a:extLst>
          </p:cNvPr>
          <p:cNvSpPr/>
          <p:nvPr/>
        </p:nvSpPr>
        <p:spPr>
          <a:xfrm>
            <a:off x="331596" y="4610984"/>
            <a:ext cx="11519285" cy="1952623"/>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1494831" y="945191"/>
            <a:ext cx="3321853"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Tools and Technology Used</a:t>
            </a:r>
          </a:p>
        </p:txBody>
      </p:sp>
      <p:sp>
        <p:nvSpPr>
          <p:cNvPr id="3" name="Rounded Rectangle 9">
            <a:extLst>
              <a:ext uri="{FF2B5EF4-FFF2-40B4-BE49-F238E27FC236}">
                <a16:creationId xmlns:a16="http://schemas.microsoft.com/office/drawing/2014/main" id="{D9702A72-BD37-A60C-45D6-DF314C0C4A9C}"/>
              </a:ext>
            </a:extLst>
          </p:cNvPr>
          <p:cNvSpPr>
            <a:spLocks noChangeArrowheads="1"/>
          </p:cNvSpPr>
          <p:nvPr/>
        </p:nvSpPr>
        <p:spPr bwMode="auto">
          <a:xfrm>
            <a:off x="6706784" y="945191"/>
            <a:ext cx="4629149"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Words from the Customer / Approval Mail</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5" name="Rounded Rectangle 9">
            <a:extLst>
              <a:ext uri="{FF2B5EF4-FFF2-40B4-BE49-F238E27FC236}">
                <a16:creationId xmlns:a16="http://schemas.microsoft.com/office/drawing/2014/main" id="{68A6AE2A-D45B-C43C-F4EF-278D9B9FC2F9}"/>
              </a:ext>
            </a:extLst>
          </p:cNvPr>
          <p:cNvSpPr>
            <a:spLocks noChangeArrowheads="1"/>
          </p:cNvSpPr>
          <p:nvPr/>
        </p:nvSpPr>
        <p:spPr bwMode="auto">
          <a:xfrm>
            <a:off x="4584243" y="4406291"/>
            <a:ext cx="3013989"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Is this Idea Re-usable? </a:t>
            </a:r>
            <a:r>
              <a:rPr kumimoji="0" lang="en-GB"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t>
            </a:r>
          </a:p>
        </p:txBody>
      </p:sp>
      <p:sp>
        <p:nvSpPr>
          <p:cNvPr id="7" name="TextBox 6">
            <a:extLst>
              <a:ext uri="{FF2B5EF4-FFF2-40B4-BE49-F238E27FC236}">
                <a16:creationId xmlns:a16="http://schemas.microsoft.com/office/drawing/2014/main" id="{8D3E1C25-1BAA-8089-1E63-C54497468F03}"/>
              </a:ext>
            </a:extLst>
          </p:cNvPr>
          <p:cNvSpPr txBox="1"/>
          <p:nvPr/>
        </p:nvSpPr>
        <p:spPr>
          <a:xfrm>
            <a:off x="550671" y="4950653"/>
            <a:ext cx="11090658" cy="276999"/>
          </a:xfrm>
          <a:prstGeom prst="rect">
            <a:avLst/>
          </a:prstGeom>
          <a:noFill/>
        </p:spPr>
        <p:txBody>
          <a:bodyPr wrap="square">
            <a:spAutoFit/>
          </a:bodyPr>
          <a:lstStyle/>
          <a:p>
            <a:pPr marL="0" marR="0" lvl="1" indent="0" algn="l" defTabSz="914400" rtl="0" eaLnBrk="0"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This is client and scenario specific and cannot be reusable</a:t>
            </a:r>
          </a:p>
        </p:txBody>
      </p:sp>
      <p:sp>
        <p:nvSpPr>
          <p:cNvPr id="13" name="TextBox 12">
            <a:extLst>
              <a:ext uri="{FF2B5EF4-FFF2-40B4-BE49-F238E27FC236}">
                <a16:creationId xmlns:a16="http://schemas.microsoft.com/office/drawing/2014/main" id="{65C53BBA-B560-F985-7284-2C0DF3CD4AD3}"/>
              </a:ext>
            </a:extLst>
          </p:cNvPr>
          <p:cNvSpPr txBox="1"/>
          <p:nvPr/>
        </p:nvSpPr>
        <p:spPr>
          <a:xfrm>
            <a:off x="10575116" y="341631"/>
            <a:ext cx="15216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Mandatory Field</a:t>
            </a:r>
          </a:p>
        </p:txBody>
      </p:sp>
      <p:graphicFrame>
        <p:nvGraphicFramePr>
          <p:cNvPr id="2" name="Table 2">
            <a:extLst>
              <a:ext uri="{FF2B5EF4-FFF2-40B4-BE49-F238E27FC236}">
                <a16:creationId xmlns:a16="http://schemas.microsoft.com/office/drawing/2014/main" id="{F4C5584E-05F3-5E64-C85E-CEBDE89D9655}"/>
              </a:ext>
            </a:extLst>
          </p:cNvPr>
          <p:cNvGraphicFramePr>
            <a:graphicFrameLocks noGrp="1"/>
          </p:cNvGraphicFramePr>
          <p:nvPr>
            <p:extLst>
              <p:ext uri="{D42A27DB-BD31-4B8C-83A1-F6EECF244321}">
                <p14:modId xmlns:p14="http://schemas.microsoft.com/office/powerpoint/2010/main" val="3524061973"/>
              </p:ext>
            </p:extLst>
          </p:nvPr>
        </p:nvGraphicFramePr>
        <p:xfrm>
          <a:off x="341119" y="1515322"/>
          <a:ext cx="5648326" cy="1620520"/>
        </p:xfrm>
        <a:graphic>
          <a:graphicData uri="http://schemas.openxmlformats.org/drawingml/2006/table">
            <a:tbl>
              <a:tblPr firstRow="1" bandRow="1">
                <a:tableStyleId>{5C22544A-7EE6-4342-B048-85BDC9FD1C3A}</a:tableStyleId>
              </a:tblPr>
              <a:tblGrid>
                <a:gridCol w="2295243">
                  <a:extLst>
                    <a:ext uri="{9D8B030D-6E8A-4147-A177-3AD203B41FA5}">
                      <a16:colId xmlns:a16="http://schemas.microsoft.com/office/drawing/2014/main" val="3844446169"/>
                    </a:ext>
                  </a:extLst>
                </a:gridCol>
                <a:gridCol w="3353083">
                  <a:extLst>
                    <a:ext uri="{9D8B030D-6E8A-4147-A177-3AD203B41FA5}">
                      <a16:colId xmlns:a16="http://schemas.microsoft.com/office/drawing/2014/main" val="2532945742"/>
                    </a:ext>
                  </a:extLst>
                </a:gridCol>
              </a:tblGrid>
              <a:tr h="370840">
                <a:tc>
                  <a:txBody>
                    <a:bodyPr/>
                    <a:lstStyle/>
                    <a:p>
                      <a:pPr marL="0" algn="l" defTabSz="914400" rtl="0" eaLnBrk="1" latinLnBrk="0" hangingPunct="1"/>
                      <a:r>
                        <a:rPr lang="en-US" sz="1400" b="0" kern="1200" dirty="0">
                          <a:solidFill>
                            <a:schemeClr val="dk1"/>
                          </a:solidFill>
                          <a:latin typeface="Arial" panose="020B0604020202020204" pitchFamily="34" charset="0"/>
                          <a:ea typeface="+mn-ea"/>
                          <a:cs typeface="Arial" panose="020B0604020202020204" pitchFamily="34" charset="0"/>
                        </a:rPr>
                        <a:t>Technology Environment: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b="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187253"/>
                  </a:ext>
                </a:extLst>
              </a:tr>
              <a:tr h="370840">
                <a:tc>
                  <a:txBody>
                    <a:bodyPr/>
                    <a:lstStyle/>
                    <a:p>
                      <a:pPr algn="l"/>
                      <a:r>
                        <a:rPr lang="en-US" sz="1400" b="0" dirty="0">
                          <a:latin typeface="Arial" panose="020B0604020202020204" pitchFamily="34" charset="0"/>
                          <a:cs typeface="Arial" panose="020B0604020202020204" pitchFamily="34" charset="0"/>
                        </a:rPr>
                        <a:t>Tools Used: Oracle PL/SQL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657110"/>
                  </a:ext>
                </a:extLst>
              </a:tr>
              <a:tr h="370840">
                <a:tc>
                  <a:txBody>
                    <a:bodyPr/>
                    <a:lstStyle/>
                    <a:p>
                      <a:pPr algn="l"/>
                      <a:r>
                        <a:rPr lang="en-US" sz="1400" b="0" dirty="0">
                          <a:latin typeface="Arial" panose="020B0604020202020204" pitchFamily="34" charset="0"/>
                          <a:cs typeface="Arial" panose="020B0604020202020204" pitchFamily="34" charset="0"/>
                        </a:rPr>
                        <a:t>Framework and Methodologies Used: Oracle ADF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6722060"/>
                  </a:ext>
                </a:extLst>
              </a:tr>
            </a:tbl>
          </a:graphicData>
        </a:graphic>
      </p:graphicFrame>
    </p:spTree>
    <p:extLst>
      <p:ext uri="{BB962C8B-B14F-4D97-AF65-F5344CB8AC3E}">
        <p14:creationId xmlns:p14="http://schemas.microsoft.com/office/powerpoint/2010/main" val="393421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B9156D-B1F7-D489-5F1A-D229184C383A}"/>
              </a:ext>
            </a:extLst>
          </p:cNvPr>
          <p:cNvSpPr txBox="1"/>
          <p:nvPr/>
        </p:nvSpPr>
        <p:spPr>
          <a:xfrm>
            <a:off x="3048000" y="2485296"/>
            <a:ext cx="609600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39"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Thank you!</a:t>
            </a:r>
          </a:p>
        </p:txBody>
      </p:sp>
      <p:sp>
        <p:nvSpPr>
          <p:cNvPr id="5" name="TextBox 4">
            <a:extLst>
              <a:ext uri="{FF2B5EF4-FFF2-40B4-BE49-F238E27FC236}">
                <a16:creationId xmlns:a16="http://schemas.microsoft.com/office/drawing/2014/main" id="{2F285560-80B8-DB68-6F95-1ADEEB68E789}"/>
              </a:ext>
            </a:extLst>
          </p:cNvPr>
          <p:cNvSpPr txBox="1"/>
          <p:nvPr/>
        </p:nvSpPr>
        <p:spPr>
          <a:xfrm>
            <a:off x="4760976" y="3429000"/>
            <a:ext cx="267004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VCTEAM@HCL.COM</a:t>
            </a:r>
            <a:endParaRPr kumimoji="0" lang="en-US" sz="1400" b="0" i="0" u="none" strike="noStrike" kern="1200" cap="none" spc="30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05518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0C8FBAD-1B9A-0B8A-4242-9C3E78A90DB3}"/>
              </a:ext>
            </a:extLst>
          </p:cNvPr>
          <p:cNvSpPr/>
          <p:nvPr/>
        </p:nvSpPr>
        <p:spPr>
          <a:xfrm>
            <a:off x="1004807" y="358777"/>
            <a:ext cx="10344150" cy="6038848"/>
          </a:xfrm>
          <a:prstGeom prst="roundRect">
            <a:avLst>
              <a:gd name="adj" fmla="val 5442"/>
            </a:avLst>
          </a:prstGeom>
          <a:solidFill>
            <a:schemeClr val="bg1"/>
          </a:solidFill>
          <a:ln w="19050">
            <a:solidFill>
              <a:schemeClr val="bg1">
                <a:lumMod val="65000"/>
              </a:schemeClr>
            </a:solidFill>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6AE348E-6D30-8A4D-06AA-F0C5097AAA63}"/>
              </a:ext>
            </a:extLst>
          </p:cNvPr>
          <p:cNvSpPr txBox="1"/>
          <p:nvPr/>
        </p:nvSpPr>
        <p:spPr>
          <a:xfrm>
            <a:off x="1252457" y="1034412"/>
            <a:ext cx="9848850" cy="1569660"/>
          </a:xfrm>
          <a:prstGeom prst="rect">
            <a:avLst/>
          </a:prstGeom>
          <a:noFill/>
        </p:spPr>
        <p:txBody>
          <a:bodyPr wrap="square">
            <a:spAutoFit/>
          </a:bodyPr>
          <a:lstStyle/>
          <a:p>
            <a:pPr marL="0" marR="0" lvl="1" indent="0" algn="just" defTabSz="914400" rtl="0" eaLnBrk="0" fontAlgn="auto" latinLnBrk="0" hangingPunct="0">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Below mentioned are the idea id’s for which we have received consummate case study files. Please feel free to visit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hlinkClick r:id="rId3"/>
              </a:rPr>
              <a:t>VC Portal</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and search these idea id’s for a better understanding on how all the required aspects are captured.</a:t>
            </a:r>
          </a:p>
          <a:p>
            <a:pPr marL="0" marR="0" lvl="1" indent="0" algn="just"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1" indent="0" algn="l" defTabSz="914400" rtl="0" eaLnBrk="0" fontAlgn="auto" latinLnBrk="0" hangingPunct="0">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Path:</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VC Portal &gt;&gt; Search for idea id on top right corner &gt;&gt; Click on the idea history button         &gt;&gt; Download the case study file.</a:t>
            </a:r>
          </a:p>
        </p:txBody>
      </p:sp>
      <p:sp>
        <p:nvSpPr>
          <p:cNvPr id="12" name="Rounded Rectangle 9">
            <a:extLst>
              <a:ext uri="{FF2B5EF4-FFF2-40B4-BE49-F238E27FC236}">
                <a16:creationId xmlns:a16="http://schemas.microsoft.com/office/drawing/2014/main" id="{191F306B-3930-44B3-8AAE-EE04DFEFB158}"/>
              </a:ext>
            </a:extLst>
          </p:cNvPr>
          <p:cNvSpPr>
            <a:spLocks noChangeArrowheads="1"/>
          </p:cNvSpPr>
          <p:nvPr/>
        </p:nvSpPr>
        <p:spPr bwMode="auto">
          <a:xfrm>
            <a:off x="5091032" y="204882"/>
            <a:ext cx="2171700" cy="409386"/>
          </a:xfrm>
          <a:prstGeom prst="roundRect">
            <a:avLst>
              <a:gd name="adj" fmla="val 42241"/>
            </a:avLst>
          </a:prstGeom>
          <a:gradFill flip="none" rotWithShape="1">
            <a:gsLst>
              <a:gs pos="0">
                <a:srgbClr val="5F1EBE"/>
              </a:gs>
              <a:gs pos="100000">
                <a:srgbClr val="0F5FDC"/>
              </a:gs>
            </a:gsLst>
            <a:lin ang="18900000" scaled="1"/>
            <a:tileRect/>
          </a:gradFill>
          <a:ln w="9525">
            <a:noFill/>
            <a:round/>
            <a:headEnd/>
            <a:tailEnd/>
          </a:ln>
        </p:spPr>
        <p:txBody>
          <a:bodyPr wrap="square">
            <a:spAutoFit/>
          </a:bodyPr>
          <a:lstStyle/>
          <a:p>
            <a:pPr marL="0" marR="0" lvl="0" indent="0" algn="ctr" defTabSz="914400" rtl="0" eaLnBrk="1" fontAlgn="auto" latinLnBrk="0" hangingPunct="1">
              <a:lnSpc>
                <a:spcPts val="17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Annexure</a:t>
            </a:r>
          </a:p>
        </p:txBody>
      </p:sp>
      <p:graphicFrame>
        <p:nvGraphicFramePr>
          <p:cNvPr id="2" name="Table 2">
            <a:extLst>
              <a:ext uri="{FF2B5EF4-FFF2-40B4-BE49-F238E27FC236}">
                <a16:creationId xmlns:a16="http://schemas.microsoft.com/office/drawing/2014/main" id="{0FD96BE2-7A7C-6431-8E28-53ED4C86A665}"/>
              </a:ext>
            </a:extLst>
          </p:cNvPr>
          <p:cNvGraphicFramePr>
            <a:graphicFrameLocks noGrp="1"/>
          </p:cNvGraphicFramePr>
          <p:nvPr/>
        </p:nvGraphicFramePr>
        <p:xfrm>
          <a:off x="1252457" y="3024216"/>
          <a:ext cx="5857874" cy="2225040"/>
        </p:xfrm>
        <a:graphic>
          <a:graphicData uri="http://schemas.openxmlformats.org/drawingml/2006/table">
            <a:tbl>
              <a:tblPr firstRow="1" bandRow="1">
                <a:tableStyleId>{5C22544A-7EE6-4342-B048-85BDC9FD1C3A}</a:tableStyleId>
              </a:tblPr>
              <a:tblGrid>
                <a:gridCol w="1079786">
                  <a:extLst>
                    <a:ext uri="{9D8B030D-6E8A-4147-A177-3AD203B41FA5}">
                      <a16:colId xmlns:a16="http://schemas.microsoft.com/office/drawing/2014/main" val="1218258160"/>
                    </a:ext>
                  </a:extLst>
                </a:gridCol>
                <a:gridCol w="4778088">
                  <a:extLst>
                    <a:ext uri="{9D8B030D-6E8A-4147-A177-3AD203B41FA5}">
                      <a16:colId xmlns:a16="http://schemas.microsoft.com/office/drawing/2014/main" val="4167390326"/>
                    </a:ext>
                  </a:extLst>
                </a:gridCol>
              </a:tblGrid>
              <a:tr h="370840">
                <a:tc>
                  <a:txBody>
                    <a:bodyPr/>
                    <a:lstStyle/>
                    <a:p>
                      <a:r>
                        <a:rPr lang="en-US" sz="1600" dirty="0">
                          <a:solidFill>
                            <a:schemeClr val="tx1"/>
                          </a:solidFill>
                          <a:latin typeface="Arial" panose="020B0604020202020204" pitchFamily="34" charset="0"/>
                          <a:cs typeface="Arial" panose="020B0604020202020204" pitchFamily="34" charset="0"/>
                        </a:rPr>
                        <a:t>Idea ID</a:t>
                      </a:r>
                    </a:p>
                  </a:txBody>
                  <a:tcPr>
                    <a:noFill/>
                  </a:tcPr>
                </a:tc>
                <a:tc>
                  <a:txBody>
                    <a:bodyPr/>
                    <a:lstStyle/>
                    <a:p>
                      <a:r>
                        <a:rPr lang="en-US" sz="1600" dirty="0">
                          <a:solidFill>
                            <a:schemeClr val="tx1"/>
                          </a:solidFill>
                          <a:latin typeface="Arial" panose="020B0604020202020204" pitchFamily="34" charset="0"/>
                          <a:cs typeface="Arial" panose="020B0604020202020204" pitchFamily="34" charset="0"/>
                        </a:rPr>
                        <a:t>Idea Title</a:t>
                      </a:r>
                    </a:p>
                  </a:txBody>
                  <a:tcPr>
                    <a:noFill/>
                  </a:tcPr>
                </a:tc>
                <a:extLst>
                  <a:ext uri="{0D108BD9-81ED-4DB2-BD59-A6C34878D82A}">
                    <a16:rowId xmlns:a16="http://schemas.microsoft.com/office/drawing/2014/main" val="3186332172"/>
                  </a:ext>
                </a:extLst>
              </a:tr>
              <a:tr h="313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Arial" panose="020B0604020202020204" pitchFamily="34" charset="0"/>
                          <a:ea typeface="+mn-ea"/>
                          <a:cs typeface="Arial" panose="020B0604020202020204" pitchFamily="34" charset="0"/>
                        </a:rPr>
                        <a:t>177167</a:t>
                      </a:r>
                    </a:p>
                  </a:txBody>
                  <a:tcPr>
                    <a:noFill/>
                  </a:tcPr>
                </a:tc>
                <a:tc>
                  <a:txBody>
                    <a:bodyPr/>
                    <a:lstStyle/>
                    <a:p>
                      <a:pPr fontAlgn="base"/>
                      <a:r>
                        <a:rPr lang="en-US" sz="1600" dirty="0">
                          <a:effectLst/>
                          <a:latin typeface="Arial" panose="020B0604020202020204" pitchFamily="34" charset="0"/>
                          <a:cs typeface="Arial" panose="020B0604020202020204" pitchFamily="34" charset="0"/>
                        </a:rPr>
                        <a:t>Achievement in Midstream landscape</a:t>
                      </a:r>
                    </a:p>
                  </a:txBody>
                  <a:tcPr marR="127000" marT="63500" marB="63500">
                    <a:noFill/>
                  </a:tcPr>
                </a:tc>
                <a:extLst>
                  <a:ext uri="{0D108BD9-81ED-4DB2-BD59-A6C34878D82A}">
                    <a16:rowId xmlns:a16="http://schemas.microsoft.com/office/drawing/2014/main" val="731187928"/>
                  </a:ext>
                </a:extLst>
              </a:tr>
              <a:tr h="370840">
                <a:tc>
                  <a:txBody>
                    <a:bodyPr/>
                    <a:lstStyle/>
                    <a:p>
                      <a:r>
                        <a:rPr lang="en-US" sz="1600" dirty="0">
                          <a:latin typeface="Arial" panose="020B0604020202020204" pitchFamily="34" charset="0"/>
                          <a:cs typeface="Arial" panose="020B0604020202020204" pitchFamily="34" charset="0"/>
                        </a:rPr>
                        <a:t>177912</a:t>
                      </a:r>
                    </a:p>
                  </a:txBody>
                  <a:tcPr>
                    <a:noFill/>
                  </a:tcPr>
                </a:tc>
                <a:tc>
                  <a:txBody>
                    <a:bodyPr/>
                    <a:lstStyle/>
                    <a:p>
                      <a:r>
                        <a:rPr lang="en-US" sz="1600" dirty="0">
                          <a:latin typeface="Arial" panose="020B0604020202020204" pitchFamily="34" charset="0"/>
                          <a:cs typeface="Arial" panose="020B0604020202020204" pitchFamily="34" charset="0"/>
                        </a:rPr>
                        <a:t>LPAR Downsizing</a:t>
                      </a:r>
                    </a:p>
                  </a:txBody>
                  <a:tcPr>
                    <a:noFill/>
                  </a:tcPr>
                </a:tc>
                <a:extLst>
                  <a:ext uri="{0D108BD9-81ED-4DB2-BD59-A6C34878D82A}">
                    <a16:rowId xmlns:a16="http://schemas.microsoft.com/office/drawing/2014/main" val="3112595985"/>
                  </a:ext>
                </a:extLst>
              </a:tr>
              <a:tr h="370840">
                <a:tc>
                  <a:txBody>
                    <a:bodyPr/>
                    <a:lstStyle/>
                    <a:p>
                      <a:r>
                        <a:rPr lang="en-US" sz="1600" dirty="0">
                          <a:latin typeface="Arial" panose="020B0604020202020204" pitchFamily="34" charset="0"/>
                          <a:cs typeface="Arial" panose="020B0604020202020204" pitchFamily="34" charset="0"/>
                        </a:rPr>
                        <a:t>177916</a:t>
                      </a:r>
                    </a:p>
                  </a:txBody>
                  <a:tcPr>
                    <a:noFill/>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Unix Hardware LCM from IBM Power8 to Power9</a:t>
                      </a:r>
                      <a:endParaRPr lang="en-US" sz="1600" dirty="0">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29337015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Arial" panose="020B0604020202020204" pitchFamily="34" charset="0"/>
                          <a:ea typeface="+mn-ea"/>
                          <a:cs typeface="Arial" panose="020B0604020202020204" pitchFamily="34" charset="0"/>
                        </a:rPr>
                        <a:t>178686</a:t>
                      </a:r>
                    </a:p>
                  </a:txBody>
                  <a:tcPr>
                    <a:noFill/>
                  </a:tcPr>
                </a:tc>
                <a:tc>
                  <a:txBody>
                    <a:bodyPr/>
                    <a:lstStyle/>
                    <a:p>
                      <a:r>
                        <a:rPr lang="fr-FR" sz="1600" kern="1200" dirty="0">
                          <a:solidFill>
                            <a:schemeClr val="dk1"/>
                          </a:solidFill>
                          <a:latin typeface="Arial" panose="020B0604020202020204" pitchFamily="34" charset="0"/>
                          <a:ea typeface="+mn-ea"/>
                          <a:cs typeface="Arial" panose="020B0604020202020204" pitchFamily="34" charset="0"/>
                        </a:rPr>
                        <a:t>User Self Service &amp; Improvement (QR CODE)</a:t>
                      </a:r>
                      <a:endParaRPr lang="en-US" sz="1600" kern="1200" dirty="0">
                        <a:solidFill>
                          <a:schemeClr val="dk1"/>
                        </a:solidFill>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6652808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Arial" panose="020B0604020202020204" pitchFamily="34" charset="0"/>
                          <a:ea typeface="+mn-ea"/>
                          <a:cs typeface="Arial" panose="020B0604020202020204" pitchFamily="34" charset="0"/>
                        </a:rPr>
                        <a:t>178690</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QR CODE for Password Reset</a:t>
                      </a:r>
                    </a:p>
                  </a:txBody>
                  <a:tcPr>
                    <a:noFill/>
                  </a:tcPr>
                </a:tc>
                <a:extLst>
                  <a:ext uri="{0D108BD9-81ED-4DB2-BD59-A6C34878D82A}">
                    <a16:rowId xmlns:a16="http://schemas.microsoft.com/office/drawing/2014/main" val="3468069522"/>
                  </a:ext>
                </a:extLst>
              </a:tr>
            </a:tbl>
          </a:graphicData>
        </a:graphic>
      </p:graphicFrame>
      <p:pic>
        <p:nvPicPr>
          <p:cNvPr id="4" name="Picture 3">
            <a:extLst>
              <a:ext uri="{FF2B5EF4-FFF2-40B4-BE49-F238E27FC236}">
                <a16:creationId xmlns:a16="http://schemas.microsoft.com/office/drawing/2014/main" id="{F0536AE4-AC55-E997-FD10-2A087B3615D8}"/>
              </a:ext>
            </a:extLst>
          </p:cNvPr>
          <p:cNvPicPr>
            <a:picLocks noChangeAspect="1"/>
          </p:cNvPicPr>
          <p:nvPr/>
        </p:nvPicPr>
        <p:blipFill>
          <a:blip r:embed="rId4"/>
          <a:stretch>
            <a:fillRect/>
          </a:stretch>
        </p:blipFill>
        <p:spPr>
          <a:xfrm>
            <a:off x="9629775" y="2011497"/>
            <a:ext cx="361950" cy="333375"/>
          </a:xfrm>
          <a:prstGeom prst="rect">
            <a:avLst/>
          </a:prstGeom>
          <a:ln>
            <a:solidFill>
              <a:schemeClr val="tx1"/>
            </a:solidFill>
          </a:ln>
        </p:spPr>
      </p:pic>
      <p:sp>
        <p:nvSpPr>
          <p:cNvPr id="5" name="TextBox 4">
            <a:extLst>
              <a:ext uri="{FF2B5EF4-FFF2-40B4-BE49-F238E27FC236}">
                <a16:creationId xmlns:a16="http://schemas.microsoft.com/office/drawing/2014/main" id="{DFA51409-A69B-A2D2-9701-A1A35BF29DE2}"/>
              </a:ext>
            </a:extLst>
          </p:cNvPr>
          <p:cNvSpPr txBox="1"/>
          <p:nvPr/>
        </p:nvSpPr>
        <p:spPr>
          <a:xfrm>
            <a:off x="1252457" y="5536258"/>
            <a:ext cx="98488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Note:</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Always refer the remarks section of attached document and download only the updated file.</a:t>
            </a:r>
          </a:p>
        </p:txBody>
      </p:sp>
    </p:spTree>
    <p:extLst>
      <p:ext uri="{BB962C8B-B14F-4D97-AF65-F5344CB8AC3E}">
        <p14:creationId xmlns:p14="http://schemas.microsoft.com/office/powerpoint/2010/main" val="374920509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725</Words>
  <Application>Microsoft Office PowerPoint</Application>
  <PresentationFormat>Widescreen</PresentationFormat>
  <Paragraphs>84</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Calibri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HCL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Rakshita Grover</dc:creator>
  <cp:lastModifiedBy>EXI-Gonaboyina, Nagavenkata S</cp:lastModifiedBy>
  <cp:revision>2</cp:revision>
  <dcterms:created xsi:type="dcterms:W3CDTF">2024-09-27T17:26:52Z</dcterms:created>
  <dcterms:modified xsi:type="dcterms:W3CDTF">2024-09-27T17:46:45Z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ae5433a8-7bf6-4dd2-831f-8497306dd465</vt:lpwstr>
  </property>
  <property fmtid="{D5CDD505-2E9C-101B-9397-08002B2CF9AE}" pid="3" name="HCLClassification">
    <vt:lpwstr>HCL_Cla5s_C0nf1dent1al</vt:lpwstr>
  </property>
</Properties>
</file>